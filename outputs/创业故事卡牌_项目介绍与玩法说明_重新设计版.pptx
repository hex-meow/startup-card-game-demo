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6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EE5F84-37E4-E917-0138-8EE41692C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A856E9-9CB8-D1CF-4B42-AF948EE74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9935A8-EF9B-BD67-A9A0-1C0FB3DA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1B25-365E-4640-9163-8A9867163E46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F01201-1A30-757E-ED34-D19EADDD5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E67B9D-45A9-3C4C-DCDB-386BD8D37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F2ED-1DBA-42F7-B958-A34A3C0C9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656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17B283-C2F3-4884-D901-8C874558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1A0032-0478-93D1-A58E-4998CE666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65AA2F-412C-698E-58E5-79E0608F0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1B25-365E-4640-9163-8A9867163E46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3E4354-0FD1-B9A7-FCF9-9786D505D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1D4FA0-D5C0-2983-FBAD-CD9C660FE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F2ED-1DBA-42F7-B958-A34A3C0C9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876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DD33FD-2B52-4546-D9B5-A742842C5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73F48D-253D-C602-F805-9E8DBF8CE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AA0C90-5899-9F2F-658B-197EB639E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1B25-365E-4640-9163-8A9867163E46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93D2EA-8DD9-A612-B1E0-CEABA426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C99F7D-0990-24C2-914C-89DFBD6B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F2ED-1DBA-42F7-B958-A34A3C0C9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342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D8448-DB8D-6C55-A870-5CE386ADD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C31C6F-185D-0428-87D7-180348BB8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7ED188-C682-DEC2-DB99-629816B61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C92D77-A397-6294-C318-9D402B4CD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1B25-365E-4640-9163-8A9867163E46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D7122C-5890-CBF5-1B23-FAA6AFE19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7F1D03-9E0A-2DA3-CBEC-3A513ECC6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F2ED-1DBA-42F7-B958-A34A3C0C9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28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D67DE5-9B04-F0BC-2189-5E893117F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F84F3F-EE98-03B2-09F0-D326EE483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5B2A1C-5DB0-0E84-08E8-C4FC37FFB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81B352-DC2F-A7E4-E761-E749180BBD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37455D-B6B6-1FBE-D81A-693CBEE7A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316CBF-57B7-D949-B880-4A1637CF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1B25-365E-4640-9163-8A9867163E46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8310BAC-064D-4B9F-C911-E665E6809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66BF31-F2B9-D69A-96EA-529E2FCC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F2ED-1DBA-42F7-B958-A34A3C0C9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640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328A3-471A-B3C3-2A7E-D66CD1CB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D33A5D-2257-A9D7-C6D4-8DDAB40A7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1B25-365E-4640-9163-8A9867163E46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7D8759-6EA5-E772-33A5-9A32D82F4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93FAC2-6909-474F-5587-94158A2E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F2ED-1DBA-42F7-B958-A34A3C0C9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640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A2CAA5-DE44-D4B7-5550-E84CB2318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1B25-365E-4640-9163-8A9867163E46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09424C-8A88-9C77-5956-A5131660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008320-753D-9F0F-D89F-D3857932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F2ED-1DBA-42F7-B958-A34A3C0C9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618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C9119-FC93-350F-E95E-02A017C78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375724-E087-20C7-0FFF-B9BB3E20F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28CA89-8B71-4437-4F1F-0D1A80F5F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2A6BC1-7AA5-A76C-6A82-91015B9C9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1B25-365E-4640-9163-8A9867163E46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73221F-3FDD-C9C6-AFCE-3FEFE2582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85B780-A858-D36A-E9B6-5117D2A0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F2ED-1DBA-42F7-B958-A34A3C0C9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47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33696-FEA2-2476-979F-19A614EB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205001D-E0D0-0909-C5E5-21F59F648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6C3712-1F20-909D-0828-1D4453F0B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9E6815-24A4-02BE-6F63-2F5FE074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1B25-365E-4640-9163-8A9867163E46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88AE39-E5CC-72BE-BA37-97484F19B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E0C396-EA75-52F7-A8A5-D36D3FD06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F2ED-1DBA-42F7-B958-A34A3C0C9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010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A07BD1-E752-5A9E-5E4B-7B0C77A73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356A44-530E-7D18-5453-E414864CC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AD37E-1072-775F-0CC3-8A5DB66C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1B25-365E-4640-9163-8A9867163E46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2D1381-6338-3562-820F-57640F63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E1FD66-E36F-FE60-FFB0-6AA5725B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F2ED-1DBA-42F7-B958-A34A3C0C9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24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6C0EA9-DA4F-F7A7-175E-8A843F07D7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681B1C-95C7-AE26-774B-0AEB40217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E9FD78-7FAD-42EE-0B1B-3C715FC33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1B25-365E-4640-9163-8A9867163E46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31DD91-CCDC-CD8F-86CC-DA6C219F6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1EFC7D-7578-85FB-A07A-FC2D36815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F2ED-1DBA-42F7-B958-A34A3C0C9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851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41C9D6-13E1-A040-CCA9-4D186D1C8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B0B2F1-8FD2-1706-CC72-2B9790A4B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834A8F-7FE7-540B-6D68-0104BCDA7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E1B25-365E-4640-9163-8A9867163E46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021F11-440A-D00B-A396-CFB4F6CA2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15B2C0-2BD3-4F44-739B-AA16FDFDD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D3F2ED-1DBA-42F7-B958-A34A3C0C9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403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9B38B8A-82FB-2E23-EC07-5370878E5810}"/>
              </a:ext>
            </a:extLst>
          </p:cNvPr>
          <p:cNvSpPr txBox="1"/>
          <p:nvPr/>
        </p:nvSpPr>
        <p:spPr>
          <a:xfrm>
            <a:off x="558800" y="736600"/>
            <a:ext cx="6604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42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创业故事卡牌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D62B38-953A-8C97-0176-188E7E15B0BE}"/>
              </a:ext>
            </a:extLst>
          </p:cNvPr>
          <p:cNvSpPr txBox="1"/>
          <p:nvPr/>
        </p:nvSpPr>
        <p:spPr>
          <a:xfrm>
            <a:off x="609600" y="1651000"/>
            <a:ext cx="6604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项目介绍与玩法说明｜重新设计版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0E74E1-E8F4-D184-793A-950249AFBA99}"/>
              </a:ext>
            </a:extLst>
          </p:cNvPr>
          <p:cNvSpPr txBox="1"/>
          <p:nvPr/>
        </p:nvSpPr>
        <p:spPr>
          <a:xfrm>
            <a:off x="609600" y="2336800"/>
            <a:ext cx="66040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用卡牌对战表达创业从立项、资源调度、阶段交付到最终发售的完整过程。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76C983-A38E-A5A1-A134-92D33E59CB9D}"/>
              </a:ext>
            </a:extLst>
          </p:cNvPr>
          <p:cNvSpPr/>
          <p:nvPr/>
        </p:nvSpPr>
        <p:spPr>
          <a:xfrm>
            <a:off x="7874000" y="660400"/>
            <a:ext cx="3302000" cy="4572000"/>
          </a:xfrm>
          <a:prstGeom prst="rect">
            <a:avLst/>
          </a:prstGeom>
          <a:solidFill>
            <a:srgbClr val="EBEE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2B75B0-8A97-755C-446F-6739D5174FC0}"/>
              </a:ext>
            </a:extLst>
          </p:cNvPr>
          <p:cNvSpPr txBox="1"/>
          <p:nvPr/>
        </p:nvSpPr>
        <p:spPr>
          <a:xfrm>
            <a:off x="8305800" y="1168400"/>
            <a:ext cx="889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900" b="1">
                <a:solidFill>
                  <a:srgbClr val="2A6FC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路线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7F50C8-6C5D-185B-471A-6CEE89680F24}"/>
              </a:ext>
            </a:extLst>
          </p:cNvPr>
          <p:cNvSpPr txBox="1"/>
          <p:nvPr/>
        </p:nvSpPr>
        <p:spPr>
          <a:xfrm>
            <a:off x="9753600" y="1168400"/>
            <a:ext cx="889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900" b="1">
                <a:solidFill>
                  <a:srgbClr val="3291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FF4008-CCC7-00F3-9986-50A70661D3AE}"/>
              </a:ext>
            </a:extLst>
          </p:cNvPr>
          <p:cNvSpPr txBox="1"/>
          <p:nvPr/>
        </p:nvSpPr>
        <p:spPr>
          <a:xfrm>
            <a:off x="8305800" y="2717800"/>
            <a:ext cx="889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900" b="1">
                <a:solidFill>
                  <a:srgbClr val="F47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8DCEB9-4DC7-21D0-83B0-B7B8C1444CD2}"/>
              </a:ext>
            </a:extLst>
          </p:cNvPr>
          <p:cNvSpPr txBox="1"/>
          <p:nvPr/>
        </p:nvSpPr>
        <p:spPr>
          <a:xfrm>
            <a:off x="9753600" y="2717800"/>
            <a:ext cx="889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900" b="1">
                <a:solidFill>
                  <a:srgbClr val="7856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31845A-1030-3913-E68C-0C85B7D4D407}"/>
              </a:ext>
            </a:extLst>
          </p:cNvPr>
          <p:cNvSpPr txBox="1"/>
          <p:nvPr/>
        </p:nvSpPr>
        <p:spPr>
          <a:xfrm>
            <a:off x="8839200" y="4191000"/>
            <a:ext cx="1524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0F7E62-4A5F-9281-444A-1C165CAD5C8C}"/>
              </a:ext>
            </a:extLst>
          </p:cNvPr>
          <p:cNvSpPr txBox="1"/>
          <p:nvPr/>
        </p:nvSpPr>
        <p:spPr>
          <a:xfrm>
            <a:off x="609600" y="5461000"/>
            <a:ext cx="635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2A6FC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模拟创业 </a:t>
            </a:r>
            <a:r>
              <a:rPr lang="en-US" altLang="zh-CN" b="1">
                <a:solidFill>
                  <a:srgbClr val="2A6FC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b="1">
                <a:solidFill>
                  <a:srgbClr val="2A6FC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真实公司故事线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EC3AC8-4CBD-F864-0B59-5A6C8788A650}"/>
              </a:ext>
            </a:extLst>
          </p:cNvPr>
          <p:cNvSpPr txBox="1"/>
          <p:nvPr/>
        </p:nvSpPr>
        <p:spPr>
          <a:xfrm>
            <a:off x="10312400" y="6223000"/>
            <a:ext cx="889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2026.07</a:t>
            </a:r>
            <a:endParaRPr lang="zh-CN" altLang="en-US" sz="1100">
              <a:solidFill>
                <a:srgbClr val="5860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3237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F56A40-F23E-F592-E222-63F4924423C2}"/>
              </a:ext>
            </a:extLst>
          </p:cNvPr>
          <p:cNvSpPr txBox="1"/>
          <p:nvPr/>
        </p:nvSpPr>
        <p:spPr>
          <a:xfrm>
            <a:off x="431800" y="3048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创业故事卡牌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EFA509-EBFF-42BA-6359-9A643AF4F095}"/>
              </a:ext>
            </a:extLst>
          </p:cNvPr>
          <p:cNvSpPr txBox="1"/>
          <p:nvPr/>
        </p:nvSpPr>
        <p:spPr>
          <a:xfrm>
            <a:off x="431800" y="685800"/>
            <a:ext cx="9652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项目定位：把创业不确定性做成可玩的决策系统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4419182-0AED-C907-06F0-DCF1A60FDC0F}"/>
              </a:ext>
            </a:extLst>
          </p:cNvPr>
          <p:cNvCxnSpPr/>
          <p:nvPr/>
        </p:nvCxnSpPr>
        <p:spPr>
          <a:xfrm>
            <a:off x="431800" y="1422400"/>
            <a:ext cx="11328400" cy="0"/>
          </a:xfrm>
          <a:prstGeom prst="line">
            <a:avLst/>
          </a:prstGeom>
          <a:ln w="17780">
            <a:solidFill>
              <a:srgbClr val="C4C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548D3AC-D285-F7B7-FDA0-00CF14E65CFB}"/>
              </a:ext>
            </a:extLst>
          </p:cNvPr>
          <p:cNvSpPr txBox="1"/>
          <p:nvPr/>
        </p:nvSpPr>
        <p:spPr>
          <a:xfrm>
            <a:off x="11430000" y="6223000"/>
            <a:ext cx="50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100">
              <a:solidFill>
                <a:srgbClr val="5860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73805E7-7AB8-03D4-E335-028A24F2E488}"/>
              </a:ext>
            </a:extLst>
          </p:cNvPr>
          <p:cNvSpPr/>
          <p:nvPr/>
        </p:nvSpPr>
        <p:spPr>
          <a:xfrm>
            <a:off x="609600" y="1905000"/>
            <a:ext cx="3302000" cy="2413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06D096-5F64-73FA-07B9-915F15559D10}"/>
              </a:ext>
            </a:extLst>
          </p:cNvPr>
          <p:cNvSpPr/>
          <p:nvPr/>
        </p:nvSpPr>
        <p:spPr>
          <a:xfrm>
            <a:off x="812800" y="2133600"/>
            <a:ext cx="63500" cy="355600"/>
          </a:xfrm>
          <a:prstGeom prst="rect">
            <a:avLst/>
          </a:prstGeom>
          <a:solidFill>
            <a:srgbClr val="2A6F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B8B8EA-67A7-CADD-8D67-FFF07F295175}"/>
              </a:ext>
            </a:extLst>
          </p:cNvPr>
          <p:cNvSpPr txBox="1"/>
          <p:nvPr/>
        </p:nvSpPr>
        <p:spPr>
          <a:xfrm>
            <a:off x="990600" y="2108200"/>
            <a:ext cx="2743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玩家体验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A85663-7652-9321-3F03-A5D6FF866757}"/>
              </a:ext>
            </a:extLst>
          </p:cNvPr>
          <p:cNvSpPr txBox="1"/>
          <p:nvPr/>
        </p:nvSpPr>
        <p:spPr>
          <a:xfrm>
            <a:off x="990600" y="2590800"/>
            <a:ext cx="2743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选择路线、配置起点、构筑牌库、进入阶段关卡，在不断变化的事件和资源限制下完成发售。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DDC2167-EBE5-13A8-E02A-7213A1BEC625}"/>
              </a:ext>
            </a:extLst>
          </p:cNvPr>
          <p:cNvSpPr/>
          <p:nvPr/>
        </p:nvSpPr>
        <p:spPr>
          <a:xfrm>
            <a:off x="4445000" y="1905000"/>
            <a:ext cx="3302000" cy="2413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016268-7177-F080-365A-6A17454E3F56}"/>
              </a:ext>
            </a:extLst>
          </p:cNvPr>
          <p:cNvSpPr/>
          <p:nvPr/>
        </p:nvSpPr>
        <p:spPr>
          <a:xfrm>
            <a:off x="4648200" y="2133600"/>
            <a:ext cx="63500" cy="355600"/>
          </a:xfrm>
          <a:prstGeom prst="rect">
            <a:avLst/>
          </a:prstGeom>
          <a:solidFill>
            <a:srgbClr val="F47A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D74360-DA67-8816-2D4E-BECE3EF13165}"/>
              </a:ext>
            </a:extLst>
          </p:cNvPr>
          <p:cNvSpPr txBox="1"/>
          <p:nvPr/>
        </p:nvSpPr>
        <p:spPr>
          <a:xfrm>
            <a:off x="4826000" y="2108200"/>
            <a:ext cx="2743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系统表达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BCA9097-C0A8-DAC6-D147-2D9AE3FE2156}"/>
              </a:ext>
            </a:extLst>
          </p:cNvPr>
          <p:cNvSpPr txBox="1"/>
          <p:nvPr/>
        </p:nvSpPr>
        <p:spPr>
          <a:xfrm>
            <a:off x="4826000" y="2590800"/>
            <a:ext cx="2743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时间是血量，资金是资源，敌人血条是阶段核心工作，关卡间事件代表外部环境变化。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6F1552E-9729-C83D-2A4D-AC201E292E08}"/>
              </a:ext>
            </a:extLst>
          </p:cNvPr>
          <p:cNvSpPr/>
          <p:nvPr/>
        </p:nvSpPr>
        <p:spPr>
          <a:xfrm>
            <a:off x="8280400" y="1905000"/>
            <a:ext cx="3302000" cy="2413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9F40B0-C6EE-2263-500F-78B655CB7A9E}"/>
              </a:ext>
            </a:extLst>
          </p:cNvPr>
          <p:cNvSpPr/>
          <p:nvPr/>
        </p:nvSpPr>
        <p:spPr>
          <a:xfrm>
            <a:off x="8483600" y="2133600"/>
            <a:ext cx="63500" cy="355600"/>
          </a:xfrm>
          <a:prstGeom prst="rect">
            <a:avLst/>
          </a:prstGeom>
          <a:solidFill>
            <a:srgbClr val="3291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A5A6F91-19F2-C6B1-B3D3-F450B000250F}"/>
              </a:ext>
            </a:extLst>
          </p:cNvPr>
          <p:cNvSpPr txBox="1"/>
          <p:nvPr/>
        </p:nvSpPr>
        <p:spPr>
          <a:xfrm>
            <a:off x="8661400" y="2108200"/>
            <a:ext cx="2743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学习目标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07F166A-E3BD-8333-8D74-0D02B486D823}"/>
              </a:ext>
            </a:extLst>
          </p:cNvPr>
          <p:cNvSpPr txBox="1"/>
          <p:nvPr/>
        </p:nvSpPr>
        <p:spPr>
          <a:xfrm>
            <a:off x="8661400" y="2590800"/>
            <a:ext cx="274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理解模拟创业的基本流程、常见问题，以及真实企业案例中的关键决策与实战故事。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114DF1B-71E1-9F41-CB99-75DE23338890}"/>
              </a:ext>
            </a:extLst>
          </p:cNvPr>
          <p:cNvSpPr/>
          <p:nvPr/>
        </p:nvSpPr>
        <p:spPr>
          <a:xfrm>
            <a:off x="609600" y="4953000"/>
            <a:ext cx="10972800" cy="736600"/>
          </a:xfrm>
          <a:prstGeom prst="rect">
            <a:avLst/>
          </a:prstGeom>
          <a:solidFill>
            <a:srgbClr val="FFF9F1"/>
          </a:solidFill>
          <a:ln w="12700">
            <a:solidFill>
              <a:srgbClr val="F4CA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7087C1-D705-03A5-CE11-90DC584C1C99}"/>
              </a:ext>
            </a:extLst>
          </p:cNvPr>
          <p:cNvSpPr txBox="1"/>
          <p:nvPr/>
        </p:nvSpPr>
        <p:spPr>
          <a:xfrm>
            <a:off x="863600" y="5168900"/>
            <a:ext cx="1046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核心目标：用卡牌对战表达资源调度、时间压力、团队能力、外部事件和阶段性交付。</a:t>
            </a:r>
          </a:p>
        </p:txBody>
      </p:sp>
    </p:spTree>
    <p:extLst>
      <p:ext uri="{BB962C8B-B14F-4D97-AF65-F5344CB8AC3E}">
        <p14:creationId xmlns:p14="http://schemas.microsoft.com/office/powerpoint/2010/main" val="1018960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101986-CF83-62F5-DC54-12FE5CD8C15F}"/>
              </a:ext>
            </a:extLst>
          </p:cNvPr>
          <p:cNvSpPr txBox="1"/>
          <p:nvPr/>
        </p:nvSpPr>
        <p:spPr>
          <a:xfrm>
            <a:off x="431800" y="3048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创业故事卡牌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C8824D-A4AE-C51B-3C96-62C39949FFB0}"/>
              </a:ext>
            </a:extLst>
          </p:cNvPr>
          <p:cNvSpPr txBox="1"/>
          <p:nvPr/>
        </p:nvSpPr>
        <p:spPr>
          <a:xfrm>
            <a:off x="431800" y="685800"/>
            <a:ext cx="9652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完整流程图 </a:t>
            </a:r>
            <a:r>
              <a:rPr lang="en-US" altLang="zh-CN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：关卡外成长与路线推进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E7EA001-3876-5047-8918-45664B2B2636}"/>
              </a:ext>
            </a:extLst>
          </p:cNvPr>
          <p:cNvCxnSpPr/>
          <p:nvPr/>
        </p:nvCxnSpPr>
        <p:spPr>
          <a:xfrm>
            <a:off x="431800" y="1422400"/>
            <a:ext cx="11328400" cy="0"/>
          </a:xfrm>
          <a:prstGeom prst="line">
            <a:avLst/>
          </a:prstGeom>
          <a:ln w="17780">
            <a:solidFill>
              <a:srgbClr val="C4C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FA7ED2B-C268-EB27-BFF8-FCF0FCF84B80}"/>
              </a:ext>
            </a:extLst>
          </p:cNvPr>
          <p:cNvSpPr txBox="1"/>
          <p:nvPr/>
        </p:nvSpPr>
        <p:spPr>
          <a:xfrm>
            <a:off x="11430000" y="6223000"/>
            <a:ext cx="50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100">
              <a:solidFill>
                <a:srgbClr val="5860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82D201-34F5-9EBB-DFBB-1D2993CFFBEB}"/>
              </a:ext>
            </a:extLst>
          </p:cNvPr>
          <p:cNvSpPr/>
          <p:nvPr/>
        </p:nvSpPr>
        <p:spPr>
          <a:xfrm>
            <a:off x="533400" y="1600200"/>
            <a:ext cx="11125200" cy="533400"/>
          </a:xfrm>
          <a:prstGeom prst="rect">
            <a:avLst/>
          </a:prstGeom>
          <a:solidFill>
            <a:srgbClr val="F7F8FA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866F78-681C-40F9-1084-36F8DBA3D31E}"/>
              </a:ext>
            </a:extLst>
          </p:cNvPr>
          <p:cNvSpPr txBox="1"/>
          <p:nvPr/>
        </p:nvSpPr>
        <p:spPr>
          <a:xfrm>
            <a:off x="736600" y="17526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2A6FC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开局分支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FE4DD9-1830-64F9-75D9-FA99E8A80D3B}"/>
              </a:ext>
            </a:extLst>
          </p:cNvPr>
          <p:cNvSpPr txBox="1"/>
          <p:nvPr/>
        </p:nvSpPr>
        <p:spPr>
          <a:xfrm>
            <a:off x="2184400" y="1752600"/>
            <a:ext cx="838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路线循环：每完成一关后，奖励、事件、商店和重组会改变下一关的可用策略。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9678FEE-75F5-12F1-1769-06705228D873}"/>
              </a:ext>
            </a:extLst>
          </p:cNvPr>
          <p:cNvSpPr/>
          <p:nvPr/>
        </p:nvSpPr>
        <p:spPr>
          <a:xfrm>
            <a:off x="660400" y="2438400"/>
            <a:ext cx="1600200" cy="787400"/>
          </a:xfrm>
          <a:prstGeom prst="roundRect">
            <a:avLst/>
          </a:prstGeom>
          <a:solidFill>
            <a:srgbClr val="ECF4FF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AD2AD8-B595-1BE3-52F6-D1760B80E12C}"/>
              </a:ext>
            </a:extLst>
          </p:cNvPr>
          <p:cNvSpPr/>
          <p:nvPr/>
        </p:nvSpPr>
        <p:spPr>
          <a:xfrm>
            <a:off x="812800" y="2590800"/>
            <a:ext cx="63500" cy="330200"/>
          </a:xfrm>
          <a:prstGeom prst="rect">
            <a:avLst/>
          </a:prstGeom>
          <a:solidFill>
            <a:srgbClr val="2A6F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2EA54F2-938D-2DF0-23DB-50300E73D8AD}"/>
              </a:ext>
            </a:extLst>
          </p:cNvPr>
          <p:cNvSpPr txBox="1"/>
          <p:nvPr/>
        </p:nvSpPr>
        <p:spPr>
          <a:xfrm>
            <a:off x="990600" y="2565400"/>
            <a:ext cx="1117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路线选择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C727FC-F4AA-21EC-B3A8-60F010C905C7}"/>
              </a:ext>
            </a:extLst>
          </p:cNvPr>
          <p:cNvSpPr txBox="1"/>
          <p:nvPr/>
        </p:nvSpPr>
        <p:spPr>
          <a:xfrm>
            <a:off x="990600" y="2946400"/>
            <a:ext cx="1117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模拟创业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真实公司故事线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C00A631-80E8-70BD-2671-FB6C59EC997F}"/>
              </a:ext>
            </a:extLst>
          </p:cNvPr>
          <p:cNvSpPr/>
          <p:nvPr/>
        </p:nvSpPr>
        <p:spPr>
          <a:xfrm>
            <a:off x="2794000" y="1955800"/>
            <a:ext cx="1981200" cy="914400"/>
          </a:xfrm>
          <a:prstGeom prst="roundRect">
            <a:avLst/>
          </a:prstGeom>
          <a:solidFill>
            <a:srgbClr val="EEF8F3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E22579-C296-1B73-7C54-7FB10732983F}"/>
              </a:ext>
            </a:extLst>
          </p:cNvPr>
          <p:cNvSpPr/>
          <p:nvPr/>
        </p:nvSpPr>
        <p:spPr>
          <a:xfrm>
            <a:off x="2946400" y="2108200"/>
            <a:ext cx="63500" cy="330200"/>
          </a:xfrm>
          <a:prstGeom prst="rect">
            <a:avLst/>
          </a:prstGeom>
          <a:solidFill>
            <a:srgbClr val="3291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57E22B-8760-93B2-2CCD-521362AD2B50}"/>
              </a:ext>
            </a:extLst>
          </p:cNvPr>
          <p:cNvSpPr txBox="1"/>
          <p:nvPr/>
        </p:nvSpPr>
        <p:spPr>
          <a:xfrm>
            <a:off x="3124200" y="2082800"/>
            <a:ext cx="1498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模拟线起点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32FC75-1C42-6C6B-BC7E-B160EE4517A8}"/>
              </a:ext>
            </a:extLst>
          </p:cNvPr>
          <p:cNvSpPr txBox="1"/>
          <p:nvPr/>
        </p:nvSpPr>
        <p:spPr>
          <a:xfrm>
            <a:off x="3124200" y="2463800"/>
            <a:ext cx="1498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选身份、行业、产品用户画像
生成时间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资金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难度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C0F07F6-6467-26D4-DE07-80E00921B41F}"/>
              </a:ext>
            </a:extLst>
          </p:cNvPr>
          <p:cNvSpPr/>
          <p:nvPr/>
        </p:nvSpPr>
        <p:spPr>
          <a:xfrm>
            <a:off x="2794000" y="3124200"/>
            <a:ext cx="1981200" cy="914400"/>
          </a:xfrm>
          <a:prstGeom prst="roundRect">
            <a:avLst/>
          </a:prstGeom>
          <a:solidFill>
            <a:srgbClr val="FFEFE6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7D968C-31AA-A36B-D44B-6A43D1A37CD3}"/>
              </a:ext>
            </a:extLst>
          </p:cNvPr>
          <p:cNvSpPr/>
          <p:nvPr/>
        </p:nvSpPr>
        <p:spPr>
          <a:xfrm>
            <a:off x="2946400" y="3276600"/>
            <a:ext cx="63500" cy="330200"/>
          </a:xfrm>
          <a:prstGeom prst="rect">
            <a:avLst/>
          </a:prstGeom>
          <a:solidFill>
            <a:srgbClr val="F47A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CB14FD3-BA84-5F6F-1797-833903043119}"/>
              </a:ext>
            </a:extLst>
          </p:cNvPr>
          <p:cNvSpPr txBox="1"/>
          <p:nvPr/>
        </p:nvSpPr>
        <p:spPr>
          <a:xfrm>
            <a:off x="3124200" y="3251200"/>
            <a:ext cx="1498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真实线起点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515570-8CF2-5FE6-95E6-7CF98E5A5912}"/>
              </a:ext>
            </a:extLst>
          </p:cNvPr>
          <p:cNvSpPr txBox="1"/>
          <p:nvPr/>
        </p:nvSpPr>
        <p:spPr>
          <a:xfrm>
            <a:off x="3124200" y="3632200"/>
            <a:ext cx="1498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案例锁定初始条件
按历史时间线推进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55457CC-59A6-2192-E6DB-EFA05B9C2AFD}"/>
              </a:ext>
            </a:extLst>
          </p:cNvPr>
          <p:cNvSpPr/>
          <p:nvPr/>
        </p:nvSpPr>
        <p:spPr>
          <a:xfrm>
            <a:off x="5283200" y="2540000"/>
            <a:ext cx="1854200" cy="889000"/>
          </a:xfrm>
          <a:prstGeom prst="roundRect">
            <a:avLst/>
          </a:prstGeom>
          <a:solidFill>
            <a:srgbClr val="F4F0FC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CE4FED-3621-488A-F07F-86FEBF0C1344}"/>
              </a:ext>
            </a:extLst>
          </p:cNvPr>
          <p:cNvSpPr/>
          <p:nvPr/>
        </p:nvSpPr>
        <p:spPr>
          <a:xfrm>
            <a:off x="5435600" y="2692400"/>
            <a:ext cx="63500" cy="330200"/>
          </a:xfrm>
          <a:prstGeom prst="rect">
            <a:avLst/>
          </a:prstGeom>
          <a:solidFill>
            <a:srgbClr val="7856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42E705A-5E19-2F24-7621-A38FB6052AEB}"/>
              </a:ext>
            </a:extLst>
          </p:cNvPr>
          <p:cNvSpPr txBox="1"/>
          <p:nvPr/>
        </p:nvSpPr>
        <p:spPr>
          <a:xfrm>
            <a:off x="5613400" y="2667000"/>
            <a:ext cx="1371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初始牌库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96BB939-773E-2CF8-56CE-68AA4CD58E56}"/>
              </a:ext>
            </a:extLst>
          </p:cNvPr>
          <p:cNvSpPr txBox="1"/>
          <p:nvPr/>
        </p:nvSpPr>
        <p:spPr>
          <a:xfrm>
            <a:off x="5613400" y="3048000"/>
            <a:ext cx="1371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模拟线：基础卡牌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
真实线：基础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专属卡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977DA41-571A-835F-16B7-54BC24B08503}"/>
              </a:ext>
            </a:extLst>
          </p:cNvPr>
          <p:cNvSpPr/>
          <p:nvPr/>
        </p:nvSpPr>
        <p:spPr>
          <a:xfrm>
            <a:off x="7670800" y="2540000"/>
            <a:ext cx="1854200" cy="889000"/>
          </a:xfrm>
          <a:prstGeom prst="roundRect">
            <a:avLst/>
          </a:prstGeom>
          <a:solidFill>
            <a:srgbClr val="ECF4FF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B86763-B382-3060-8A72-D695FB08C58A}"/>
              </a:ext>
            </a:extLst>
          </p:cNvPr>
          <p:cNvSpPr/>
          <p:nvPr/>
        </p:nvSpPr>
        <p:spPr>
          <a:xfrm>
            <a:off x="7823200" y="2692400"/>
            <a:ext cx="63500" cy="330200"/>
          </a:xfrm>
          <a:prstGeom prst="rect">
            <a:avLst/>
          </a:prstGeom>
          <a:solidFill>
            <a:srgbClr val="2A6F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2CF0AE3-C522-9256-9B86-79C50D688A4B}"/>
              </a:ext>
            </a:extLst>
          </p:cNvPr>
          <p:cNvSpPr txBox="1"/>
          <p:nvPr/>
        </p:nvSpPr>
        <p:spPr>
          <a:xfrm>
            <a:off x="8001000" y="2667000"/>
            <a:ext cx="1371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路线地图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09FAFDB-91E6-9646-761F-2147BB7821EF}"/>
              </a:ext>
            </a:extLst>
          </p:cNvPr>
          <p:cNvSpPr txBox="1"/>
          <p:nvPr/>
        </p:nvSpPr>
        <p:spPr>
          <a:xfrm>
            <a:off x="8001000" y="3048000"/>
            <a:ext cx="13716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查看阶段、事件、资金、牌库
选择已解锁关卡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AB8C513-8ACC-6458-8BD8-BFCF333E6FB4}"/>
              </a:ext>
            </a:extLst>
          </p:cNvPr>
          <p:cNvSpPr/>
          <p:nvPr/>
        </p:nvSpPr>
        <p:spPr>
          <a:xfrm>
            <a:off x="10058400" y="2540000"/>
            <a:ext cx="1600200" cy="889000"/>
          </a:xfrm>
          <a:prstGeom prst="roundRect">
            <a:avLst/>
          </a:prstGeom>
          <a:solidFill>
            <a:srgbClr val="FFEFE6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DC2E0DD-C3B5-37A9-86BD-3DEF9FDC8E81}"/>
              </a:ext>
            </a:extLst>
          </p:cNvPr>
          <p:cNvSpPr/>
          <p:nvPr/>
        </p:nvSpPr>
        <p:spPr>
          <a:xfrm>
            <a:off x="10210800" y="2692400"/>
            <a:ext cx="63500" cy="330200"/>
          </a:xfrm>
          <a:prstGeom prst="rect">
            <a:avLst/>
          </a:prstGeom>
          <a:solidFill>
            <a:srgbClr val="F47A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418DE72-4A8B-80F6-3008-3D1381DC0FC4}"/>
              </a:ext>
            </a:extLst>
          </p:cNvPr>
          <p:cNvSpPr txBox="1"/>
          <p:nvPr/>
        </p:nvSpPr>
        <p:spPr>
          <a:xfrm>
            <a:off x="10388600" y="2667000"/>
            <a:ext cx="1117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进入关卡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33DC40D-01DF-0EE8-4C27-274A73A5CFDC}"/>
              </a:ext>
            </a:extLst>
          </p:cNvPr>
          <p:cNvSpPr txBox="1"/>
          <p:nvPr/>
        </p:nvSpPr>
        <p:spPr>
          <a:xfrm>
            <a:off x="10388600" y="3048000"/>
            <a:ext cx="1117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带入出战牌库
进入关卡内对战流程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592E3AA-A379-8C99-4BBD-752D0A3BBFBA}"/>
              </a:ext>
            </a:extLst>
          </p:cNvPr>
          <p:cNvSpPr/>
          <p:nvPr/>
        </p:nvSpPr>
        <p:spPr>
          <a:xfrm>
            <a:off x="10058400" y="4089400"/>
            <a:ext cx="1600200" cy="889000"/>
          </a:xfrm>
          <a:prstGeom prst="roundRect">
            <a:avLst/>
          </a:prstGeom>
          <a:solidFill>
            <a:srgbClr val="FFEFE6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657108-33B6-DCD4-9075-1D43A74C4BE2}"/>
              </a:ext>
            </a:extLst>
          </p:cNvPr>
          <p:cNvSpPr/>
          <p:nvPr/>
        </p:nvSpPr>
        <p:spPr>
          <a:xfrm>
            <a:off x="10210800" y="4241800"/>
            <a:ext cx="63500" cy="330200"/>
          </a:xfrm>
          <a:prstGeom prst="rect">
            <a:avLst/>
          </a:prstGeom>
          <a:solidFill>
            <a:srgbClr val="F47A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AA7AAB1-529A-AE58-5274-0D5AA272A1C4}"/>
              </a:ext>
            </a:extLst>
          </p:cNvPr>
          <p:cNvSpPr txBox="1"/>
          <p:nvPr/>
        </p:nvSpPr>
        <p:spPr>
          <a:xfrm>
            <a:off x="10388600" y="4216400"/>
            <a:ext cx="1117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阶段失败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81FCAFD-6490-1F2E-C667-6730D35FD839}"/>
              </a:ext>
            </a:extLst>
          </p:cNvPr>
          <p:cNvSpPr txBox="1"/>
          <p:nvPr/>
        </p:nvSpPr>
        <p:spPr>
          <a:xfrm>
            <a:off x="10388600" y="4597400"/>
            <a:ext cx="11176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时间归零或超回合
返回路线地图，可重试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FA53D60-F60A-02A5-A825-A99D6A6B27B8}"/>
              </a:ext>
            </a:extLst>
          </p:cNvPr>
          <p:cNvSpPr/>
          <p:nvPr/>
        </p:nvSpPr>
        <p:spPr>
          <a:xfrm>
            <a:off x="7670800" y="4089400"/>
            <a:ext cx="1854200" cy="889000"/>
          </a:xfrm>
          <a:prstGeom prst="roundRect">
            <a:avLst/>
          </a:prstGeom>
          <a:solidFill>
            <a:srgbClr val="EEF8F3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4159C0D-C07D-21EB-C859-6D92591F3579}"/>
              </a:ext>
            </a:extLst>
          </p:cNvPr>
          <p:cNvSpPr/>
          <p:nvPr/>
        </p:nvSpPr>
        <p:spPr>
          <a:xfrm>
            <a:off x="7823200" y="4241800"/>
            <a:ext cx="63500" cy="330200"/>
          </a:xfrm>
          <a:prstGeom prst="rect">
            <a:avLst/>
          </a:prstGeom>
          <a:solidFill>
            <a:srgbClr val="3291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0ADC6E2-6DCD-A93F-EB4D-2FC9882F7A0D}"/>
              </a:ext>
            </a:extLst>
          </p:cNvPr>
          <p:cNvSpPr txBox="1"/>
          <p:nvPr/>
        </p:nvSpPr>
        <p:spPr>
          <a:xfrm>
            <a:off x="8001000" y="4216400"/>
            <a:ext cx="1371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阶段胜利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C8CBE25-6005-4246-4DCF-B5E3AE52C861}"/>
              </a:ext>
            </a:extLst>
          </p:cNvPr>
          <p:cNvSpPr txBox="1"/>
          <p:nvPr/>
        </p:nvSpPr>
        <p:spPr>
          <a:xfrm>
            <a:off x="8001000" y="4597400"/>
            <a:ext cx="1371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保留剩余时间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资金
发放关卡奖励资金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B2C421C-EE0F-9DB4-0173-1EEFDD47B6CE}"/>
              </a:ext>
            </a:extLst>
          </p:cNvPr>
          <p:cNvSpPr/>
          <p:nvPr/>
        </p:nvSpPr>
        <p:spPr>
          <a:xfrm>
            <a:off x="5283200" y="4089400"/>
            <a:ext cx="1854200" cy="889000"/>
          </a:xfrm>
          <a:prstGeom prst="roundRect">
            <a:avLst/>
          </a:prstGeom>
          <a:solidFill>
            <a:srgbClr val="EEF8F3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11CA8E6-77C9-A96A-93DB-18E44650B35C}"/>
              </a:ext>
            </a:extLst>
          </p:cNvPr>
          <p:cNvSpPr/>
          <p:nvPr/>
        </p:nvSpPr>
        <p:spPr>
          <a:xfrm>
            <a:off x="5435600" y="4241800"/>
            <a:ext cx="63500" cy="330200"/>
          </a:xfrm>
          <a:prstGeom prst="rect">
            <a:avLst/>
          </a:prstGeom>
          <a:solidFill>
            <a:srgbClr val="3291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BC4E252-4885-9CD9-EB14-9031A57A487E}"/>
              </a:ext>
            </a:extLst>
          </p:cNvPr>
          <p:cNvSpPr txBox="1"/>
          <p:nvPr/>
        </p:nvSpPr>
        <p:spPr>
          <a:xfrm>
            <a:off x="5613400" y="4216400"/>
            <a:ext cx="1371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奖励选牌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0572D7B-4A80-5051-1295-A7F8FC3FAF0D}"/>
              </a:ext>
            </a:extLst>
          </p:cNvPr>
          <p:cNvSpPr txBox="1"/>
          <p:nvPr/>
        </p:nvSpPr>
        <p:spPr>
          <a:xfrm>
            <a:off x="5613400" y="4597400"/>
            <a:ext cx="1371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阶段奖励卡
加入拥有牌库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9F9FDEEC-2778-CBC9-2940-7F228974D2E2}"/>
              </a:ext>
            </a:extLst>
          </p:cNvPr>
          <p:cNvSpPr/>
          <p:nvPr/>
        </p:nvSpPr>
        <p:spPr>
          <a:xfrm>
            <a:off x="2794000" y="4292600"/>
            <a:ext cx="1981200" cy="889000"/>
          </a:xfrm>
          <a:prstGeom prst="roundRect">
            <a:avLst/>
          </a:prstGeom>
          <a:solidFill>
            <a:srgbClr val="F4F0FC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0C2CCAA-9481-A25B-60AE-F5D382782F2C}"/>
              </a:ext>
            </a:extLst>
          </p:cNvPr>
          <p:cNvSpPr/>
          <p:nvPr/>
        </p:nvSpPr>
        <p:spPr>
          <a:xfrm>
            <a:off x="2946400" y="4445000"/>
            <a:ext cx="63500" cy="330200"/>
          </a:xfrm>
          <a:prstGeom prst="rect">
            <a:avLst/>
          </a:prstGeom>
          <a:solidFill>
            <a:srgbClr val="7856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756A8A5-FDBF-9D6A-F873-99E79C296326}"/>
              </a:ext>
            </a:extLst>
          </p:cNvPr>
          <p:cNvSpPr txBox="1"/>
          <p:nvPr/>
        </p:nvSpPr>
        <p:spPr>
          <a:xfrm>
            <a:off x="3124200" y="4419600"/>
            <a:ext cx="1498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关卡间事件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D69B866-B072-E395-0D95-46539B683850}"/>
              </a:ext>
            </a:extLst>
          </p:cNvPr>
          <p:cNvSpPr txBox="1"/>
          <p:nvPr/>
        </p:nvSpPr>
        <p:spPr>
          <a:xfrm>
            <a:off x="3124200" y="4800600"/>
            <a:ext cx="1498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模拟线：标准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随机事件
真实线：历史时间线事件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E115D6D8-5857-AC80-65C3-3063B4783A96}"/>
              </a:ext>
            </a:extLst>
          </p:cNvPr>
          <p:cNvSpPr/>
          <p:nvPr/>
        </p:nvSpPr>
        <p:spPr>
          <a:xfrm>
            <a:off x="660400" y="4292600"/>
            <a:ext cx="1600200" cy="889000"/>
          </a:xfrm>
          <a:prstGeom prst="roundRect">
            <a:avLst/>
          </a:prstGeom>
          <a:solidFill>
            <a:srgbClr val="F4F0FC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76BE4D3-8537-C909-68C9-DD89634A436A}"/>
              </a:ext>
            </a:extLst>
          </p:cNvPr>
          <p:cNvSpPr/>
          <p:nvPr/>
        </p:nvSpPr>
        <p:spPr>
          <a:xfrm>
            <a:off x="812800" y="4445000"/>
            <a:ext cx="63500" cy="330200"/>
          </a:xfrm>
          <a:prstGeom prst="rect">
            <a:avLst/>
          </a:prstGeom>
          <a:solidFill>
            <a:srgbClr val="7856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CC359BC-836E-04F5-CC0E-32A9C9DAD6E6}"/>
              </a:ext>
            </a:extLst>
          </p:cNvPr>
          <p:cNvSpPr txBox="1"/>
          <p:nvPr/>
        </p:nvSpPr>
        <p:spPr>
          <a:xfrm>
            <a:off x="990600" y="4419600"/>
            <a:ext cx="1117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商店购买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0BF7622-1740-B07E-073B-1285ECC28DAD}"/>
              </a:ext>
            </a:extLst>
          </p:cNvPr>
          <p:cNvSpPr txBox="1"/>
          <p:nvPr/>
        </p:nvSpPr>
        <p:spPr>
          <a:xfrm>
            <a:off x="990600" y="4800600"/>
            <a:ext cx="11176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用资金购买未拥有基础卡
补充路线成长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F991E455-C35B-2D5B-7337-5F8472CBB2BA}"/>
              </a:ext>
            </a:extLst>
          </p:cNvPr>
          <p:cNvSpPr/>
          <p:nvPr/>
        </p:nvSpPr>
        <p:spPr>
          <a:xfrm>
            <a:off x="660400" y="5588000"/>
            <a:ext cx="1981200" cy="787400"/>
          </a:xfrm>
          <a:prstGeom prst="roundRect">
            <a:avLst/>
          </a:prstGeom>
          <a:solidFill>
            <a:srgbClr val="ECF4FF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10D0191-E532-945A-9D9C-5897CCC7D0D5}"/>
              </a:ext>
            </a:extLst>
          </p:cNvPr>
          <p:cNvSpPr/>
          <p:nvPr/>
        </p:nvSpPr>
        <p:spPr>
          <a:xfrm>
            <a:off x="812800" y="5740400"/>
            <a:ext cx="63500" cy="330200"/>
          </a:xfrm>
          <a:prstGeom prst="rect">
            <a:avLst/>
          </a:prstGeom>
          <a:solidFill>
            <a:srgbClr val="2A6F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8FD363E-3AA6-1EA7-D30B-F423680DAA2E}"/>
              </a:ext>
            </a:extLst>
          </p:cNvPr>
          <p:cNvSpPr txBox="1"/>
          <p:nvPr/>
        </p:nvSpPr>
        <p:spPr>
          <a:xfrm>
            <a:off x="990600" y="5715000"/>
            <a:ext cx="1498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重组牌库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C8546FE-450B-0802-4FA5-65BEA0D32282}"/>
              </a:ext>
            </a:extLst>
          </p:cNvPr>
          <p:cNvSpPr txBox="1"/>
          <p:nvPr/>
        </p:nvSpPr>
        <p:spPr>
          <a:xfrm>
            <a:off x="990600" y="6096000"/>
            <a:ext cx="1498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出战上限随进度提高
至少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张，确认后回地图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27CDDB76-AD55-9700-3E38-CCED9CDF3C97}"/>
              </a:ext>
            </a:extLst>
          </p:cNvPr>
          <p:cNvSpPr/>
          <p:nvPr/>
        </p:nvSpPr>
        <p:spPr>
          <a:xfrm>
            <a:off x="5283200" y="5562600"/>
            <a:ext cx="2159000" cy="787400"/>
          </a:xfrm>
          <a:prstGeom prst="roundRect">
            <a:avLst/>
          </a:prstGeom>
          <a:solidFill>
            <a:srgbClr val="EEF8F3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9B2AEC7-C0BD-8401-6AE4-02B4FFF14534}"/>
              </a:ext>
            </a:extLst>
          </p:cNvPr>
          <p:cNvSpPr/>
          <p:nvPr/>
        </p:nvSpPr>
        <p:spPr>
          <a:xfrm>
            <a:off x="5435600" y="5715000"/>
            <a:ext cx="63500" cy="330200"/>
          </a:xfrm>
          <a:prstGeom prst="rect">
            <a:avLst/>
          </a:prstGeom>
          <a:solidFill>
            <a:srgbClr val="3291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4DB45B8F-86CF-7A50-CBAF-53A225408E0D}"/>
              </a:ext>
            </a:extLst>
          </p:cNvPr>
          <p:cNvSpPr txBox="1"/>
          <p:nvPr/>
        </p:nvSpPr>
        <p:spPr>
          <a:xfrm>
            <a:off x="5613400" y="5689600"/>
            <a:ext cx="1676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最终关完成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E1AD885-2E17-2DA2-BEA1-8C59AF6652B4}"/>
              </a:ext>
            </a:extLst>
          </p:cNvPr>
          <p:cNvSpPr txBox="1"/>
          <p:nvPr/>
        </p:nvSpPr>
        <p:spPr>
          <a:xfrm>
            <a:off x="5613400" y="6070600"/>
            <a:ext cx="16764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进入路线收官
输出案例总结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发售结果</a:t>
            </a: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1B86A2BB-3328-14C9-D77A-C513233AD87B}"/>
              </a:ext>
            </a:extLst>
          </p:cNvPr>
          <p:cNvCxnSpPr/>
          <p:nvPr/>
        </p:nvCxnSpPr>
        <p:spPr>
          <a:xfrm flipV="1">
            <a:off x="2260600" y="2413000"/>
            <a:ext cx="533400" cy="419100"/>
          </a:xfrm>
          <a:prstGeom prst="line">
            <a:avLst/>
          </a:prstGeom>
          <a:ln w="1651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8207B8C4-D647-F96D-F50B-FE6B900648FD}"/>
              </a:ext>
            </a:extLst>
          </p:cNvPr>
          <p:cNvCxnSpPr/>
          <p:nvPr/>
        </p:nvCxnSpPr>
        <p:spPr>
          <a:xfrm>
            <a:off x="2260600" y="2832100"/>
            <a:ext cx="533400" cy="749300"/>
          </a:xfrm>
          <a:prstGeom prst="line">
            <a:avLst/>
          </a:prstGeom>
          <a:ln w="1651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584125C-7464-0891-F22F-CDB4BB2BA408}"/>
              </a:ext>
            </a:extLst>
          </p:cNvPr>
          <p:cNvCxnSpPr/>
          <p:nvPr/>
        </p:nvCxnSpPr>
        <p:spPr>
          <a:xfrm>
            <a:off x="4775200" y="2413000"/>
            <a:ext cx="508000" cy="457200"/>
          </a:xfrm>
          <a:prstGeom prst="line">
            <a:avLst/>
          </a:prstGeom>
          <a:ln w="1651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E900D34-932C-DBAB-9118-8B622A0A03B8}"/>
              </a:ext>
            </a:extLst>
          </p:cNvPr>
          <p:cNvCxnSpPr/>
          <p:nvPr/>
        </p:nvCxnSpPr>
        <p:spPr>
          <a:xfrm flipV="1">
            <a:off x="4775200" y="2997200"/>
            <a:ext cx="508000" cy="584200"/>
          </a:xfrm>
          <a:prstGeom prst="line">
            <a:avLst/>
          </a:prstGeom>
          <a:ln w="1651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72247C12-A556-D09F-0735-5DA26A0AC864}"/>
              </a:ext>
            </a:extLst>
          </p:cNvPr>
          <p:cNvCxnSpPr/>
          <p:nvPr/>
        </p:nvCxnSpPr>
        <p:spPr>
          <a:xfrm>
            <a:off x="7137400" y="2984500"/>
            <a:ext cx="533400" cy="0"/>
          </a:xfrm>
          <a:prstGeom prst="line">
            <a:avLst/>
          </a:prstGeom>
          <a:ln w="1651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2FDEE85B-EF77-0B9B-7C37-332ED09464FF}"/>
              </a:ext>
            </a:extLst>
          </p:cNvPr>
          <p:cNvCxnSpPr/>
          <p:nvPr/>
        </p:nvCxnSpPr>
        <p:spPr>
          <a:xfrm>
            <a:off x="9525000" y="2984500"/>
            <a:ext cx="533400" cy="0"/>
          </a:xfrm>
          <a:prstGeom prst="line">
            <a:avLst/>
          </a:prstGeom>
          <a:ln w="1651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1BC897E5-91CE-698D-09DD-6693FFAC0158}"/>
              </a:ext>
            </a:extLst>
          </p:cNvPr>
          <p:cNvCxnSpPr/>
          <p:nvPr/>
        </p:nvCxnSpPr>
        <p:spPr>
          <a:xfrm>
            <a:off x="10795000" y="3429000"/>
            <a:ext cx="0" cy="660400"/>
          </a:xfrm>
          <a:prstGeom prst="line">
            <a:avLst/>
          </a:prstGeom>
          <a:ln w="1651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9A30B6E1-A103-BB38-8A7C-415C802866C0}"/>
              </a:ext>
            </a:extLst>
          </p:cNvPr>
          <p:cNvCxnSpPr/>
          <p:nvPr/>
        </p:nvCxnSpPr>
        <p:spPr>
          <a:xfrm flipH="1">
            <a:off x="9525000" y="3429000"/>
            <a:ext cx="533400" cy="660400"/>
          </a:xfrm>
          <a:prstGeom prst="line">
            <a:avLst/>
          </a:prstGeom>
          <a:ln w="17780">
            <a:solidFill>
              <a:srgbClr val="32916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8F2131DE-3B51-EF90-5AC3-A7477F0049FE}"/>
              </a:ext>
            </a:extLst>
          </p:cNvPr>
          <p:cNvCxnSpPr/>
          <p:nvPr/>
        </p:nvCxnSpPr>
        <p:spPr>
          <a:xfrm flipH="1" flipV="1">
            <a:off x="9525000" y="3429000"/>
            <a:ext cx="533400" cy="952500"/>
          </a:xfrm>
          <a:prstGeom prst="line">
            <a:avLst/>
          </a:prstGeom>
          <a:ln w="16510">
            <a:solidFill>
              <a:srgbClr val="F47A3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865D589F-D376-3C82-28E9-67C15C214591}"/>
              </a:ext>
            </a:extLst>
          </p:cNvPr>
          <p:cNvCxnSpPr/>
          <p:nvPr/>
        </p:nvCxnSpPr>
        <p:spPr>
          <a:xfrm flipH="1">
            <a:off x="7137400" y="4533900"/>
            <a:ext cx="533400" cy="0"/>
          </a:xfrm>
          <a:prstGeom prst="line">
            <a:avLst/>
          </a:prstGeom>
          <a:ln w="1651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521641B3-8208-41B1-052B-4CF0F3D3FE3D}"/>
              </a:ext>
            </a:extLst>
          </p:cNvPr>
          <p:cNvCxnSpPr/>
          <p:nvPr/>
        </p:nvCxnSpPr>
        <p:spPr>
          <a:xfrm flipH="1">
            <a:off x="4775200" y="4533900"/>
            <a:ext cx="508000" cy="203200"/>
          </a:xfrm>
          <a:prstGeom prst="line">
            <a:avLst/>
          </a:prstGeom>
          <a:ln w="1651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7510A40-67A4-1B4E-0F74-5B79C903C18D}"/>
              </a:ext>
            </a:extLst>
          </p:cNvPr>
          <p:cNvCxnSpPr/>
          <p:nvPr/>
        </p:nvCxnSpPr>
        <p:spPr>
          <a:xfrm flipH="1">
            <a:off x="2260600" y="4737100"/>
            <a:ext cx="533400" cy="0"/>
          </a:xfrm>
          <a:prstGeom prst="line">
            <a:avLst/>
          </a:prstGeom>
          <a:ln w="1651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D99D65BA-AA40-F310-0AAE-C3D62DC65F9B}"/>
              </a:ext>
            </a:extLst>
          </p:cNvPr>
          <p:cNvCxnSpPr/>
          <p:nvPr/>
        </p:nvCxnSpPr>
        <p:spPr>
          <a:xfrm>
            <a:off x="1460500" y="5181600"/>
            <a:ext cx="0" cy="406400"/>
          </a:xfrm>
          <a:prstGeom prst="line">
            <a:avLst/>
          </a:prstGeom>
          <a:ln w="1651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AEDA581C-95B8-D911-BE21-6BD80366BD33}"/>
              </a:ext>
            </a:extLst>
          </p:cNvPr>
          <p:cNvCxnSpPr/>
          <p:nvPr/>
        </p:nvCxnSpPr>
        <p:spPr>
          <a:xfrm flipV="1">
            <a:off x="2641600" y="3429000"/>
            <a:ext cx="5029200" cy="2552700"/>
          </a:xfrm>
          <a:prstGeom prst="line">
            <a:avLst/>
          </a:prstGeom>
          <a:ln w="1651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2D1EC8E6-3D10-D219-3A44-8545F40519A9}"/>
              </a:ext>
            </a:extLst>
          </p:cNvPr>
          <p:cNvCxnSpPr/>
          <p:nvPr/>
        </p:nvCxnSpPr>
        <p:spPr>
          <a:xfrm flipH="1">
            <a:off x="6362700" y="4978400"/>
            <a:ext cx="2235200" cy="584200"/>
          </a:xfrm>
          <a:prstGeom prst="line">
            <a:avLst/>
          </a:prstGeom>
          <a:ln w="17780">
            <a:solidFill>
              <a:srgbClr val="32916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8C1B2CC0-F727-B504-1394-4FF1E537DA8C}"/>
              </a:ext>
            </a:extLst>
          </p:cNvPr>
          <p:cNvSpPr txBox="1"/>
          <p:nvPr/>
        </p:nvSpPr>
        <p:spPr>
          <a:xfrm>
            <a:off x="7874000" y="5740400"/>
            <a:ext cx="317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普通关胜利继续循环；最终关胜利进入路线收官。</a:t>
            </a:r>
          </a:p>
        </p:txBody>
      </p:sp>
    </p:spTree>
    <p:extLst>
      <p:ext uri="{BB962C8B-B14F-4D97-AF65-F5344CB8AC3E}">
        <p14:creationId xmlns:p14="http://schemas.microsoft.com/office/powerpoint/2010/main" val="1043441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46D0405-BA1B-59AA-6B4D-E20EE7874F62}"/>
              </a:ext>
            </a:extLst>
          </p:cNvPr>
          <p:cNvSpPr txBox="1"/>
          <p:nvPr/>
        </p:nvSpPr>
        <p:spPr>
          <a:xfrm>
            <a:off x="431800" y="3048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创业故事卡牌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4A461F-BF50-48B7-8DDC-D9A1FA7A843B}"/>
              </a:ext>
            </a:extLst>
          </p:cNvPr>
          <p:cNvSpPr txBox="1"/>
          <p:nvPr/>
        </p:nvSpPr>
        <p:spPr>
          <a:xfrm>
            <a:off x="431800" y="685800"/>
            <a:ext cx="9652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两类路线共用成长结构，但内容来源不同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5BB1E3B-EE87-D886-951E-0AA1F9923E0A}"/>
              </a:ext>
            </a:extLst>
          </p:cNvPr>
          <p:cNvCxnSpPr/>
          <p:nvPr/>
        </p:nvCxnSpPr>
        <p:spPr>
          <a:xfrm>
            <a:off x="431800" y="1422400"/>
            <a:ext cx="11328400" cy="0"/>
          </a:xfrm>
          <a:prstGeom prst="line">
            <a:avLst/>
          </a:prstGeom>
          <a:ln w="17780">
            <a:solidFill>
              <a:srgbClr val="C4C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9D0314A-F809-7A4C-E658-EA4B4AE76BF5}"/>
              </a:ext>
            </a:extLst>
          </p:cNvPr>
          <p:cNvSpPr txBox="1"/>
          <p:nvPr/>
        </p:nvSpPr>
        <p:spPr>
          <a:xfrm>
            <a:off x="11430000" y="6223000"/>
            <a:ext cx="50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100">
              <a:solidFill>
                <a:srgbClr val="5860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A12A25-465E-B015-127F-FD5DA23C52C6}"/>
              </a:ext>
            </a:extLst>
          </p:cNvPr>
          <p:cNvSpPr/>
          <p:nvPr/>
        </p:nvSpPr>
        <p:spPr>
          <a:xfrm>
            <a:off x="609600" y="1905000"/>
            <a:ext cx="3657600" cy="635000"/>
          </a:xfrm>
          <a:prstGeom prst="rect">
            <a:avLst/>
          </a:prstGeom>
          <a:solidFill>
            <a:srgbClr val="2A6F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405909-2A64-BAF8-BE4D-BDCC4127E5B9}"/>
              </a:ext>
            </a:extLst>
          </p:cNvPr>
          <p:cNvSpPr txBox="1"/>
          <p:nvPr/>
        </p:nvSpPr>
        <p:spPr>
          <a:xfrm>
            <a:off x="711200" y="20066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环节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8DDC4F-C057-A324-2F88-B7A0E884DE61}"/>
              </a:ext>
            </a:extLst>
          </p:cNvPr>
          <p:cNvSpPr/>
          <p:nvPr/>
        </p:nvSpPr>
        <p:spPr>
          <a:xfrm>
            <a:off x="4267200" y="1905000"/>
            <a:ext cx="3657600" cy="635000"/>
          </a:xfrm>
          <a:prstGeom prst="rect">
            <a:avLst/>
          </a:prstGeom>
          <a:solidFill>
            <a:srgbClr val="2A6F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6392E9-E10F-E5C2-BE2D-7CE9F12A2D86}"/>
              </a:ext>
            </a:extLst>
          </p:cNvPr>
          <p:cNvSpPr txBox="1"/>
          <p:nvPr/>
        </p:nvSpPr>
        <p:spPr>
          <a:xfrm>
            <a:off x="4368800" y="20066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模拟创业路线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BFE427-8ACF-6152-C452-610902266CE4}"/>
              </a:ext>
            </a:extLst>
          </p:cNvPr>
          <p:cNvSpPr/>
          <p:nvPr/>
        </p:nvSpPr>
        <p:spPr>
          <a:xfrm>
            <a:off x="7924800" y="1905000"/>
            <a:ext cx="3657600" cy="635000"/>
          </a:xfrm>
          <a:prstGeom prst="rect">
            <a:avLst/>
          </a:prstGeom>
          <a:solidFill>
            <a:srgbClr val="2A6F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582121-C40D-3C0F-7293-6C3A34FC175E}"/>
              </a:ext>
            </a:extLst>
          </p:cNvPr>
          <p:cNvSpPr txBox="1"/>
          <p:nvPr/>
        </p:nvSpPr>
        <p:spPr>
          <a:xfrm>
            <a:off x="8026400" y="20066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真实公司故事线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4DBD7E-FF49-A224-B9CD-4C00280BCD0F}"/>
              </a:ext>
            </a:extLst>
          </p:cNvPr>
          <p:cNvSpPr/>
          <p:nvPr/>
        </p:nvSpPr>
        <p:spPr>
          <a:xfrm>
            <a:off x="609600" y="2540000"/>
            <a:ext cx="3657600" cy="635000"/>
          </a:xfrm>
          <a:prstGeom prst="rect">
            <a:avLst/>
          </a:prstGeom>
          <a:solidFill>
            <a:srgbClr val="F6F7F9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5D250F-F901-004D-7B93-B9C3EDAC4020}"/>
              </a:ext>
            </a:extLst>
          </p:cNvPr>
          <p:cNvSpPr txBox="1"/>
          <p:nvPr/>
        </p:nvSpPr>
        <p:spPr>
          <a:xfrm>
            <a:off x="711200" y="2628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开局条件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1D03BE-4E1B-5624-8AA6-7F936BD13718}"/>
              </a:ext>
            </a:extLst>
          </p:cNvPr>
          <p:cNvSpPr/>
          <p:nvPr/>
        </p:nvSpPr>
        <p:spPr>
          <a:xfrm>
            <a:off x="4267200" y="2540000"/>
            <a:ext cx="3657600" cy="635000"/>
          </a:xfrm>
          <a:prstGeom prst="rect">
            <a:avLst/>
          </a:prstGeom>
          <a:solidFill>
            <a:srgbClr val="F6F7F9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3154E92-F88A-B17B-36C6-3A66B28D1289}"/>
              </a:ext>
            </a:extLst>
          </p:cNvPr>
          <p:cNvSpPr txBox="1"/>
          <p:nvPr/>
        </p:nvSpPr>
        <p:spPr>
          <a:xfrm>
            <a:off x="4368800" y="2628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选择创业者身份、行业、产品用户画像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65551C-2AEA-1DB1-AACA-9611EEAEC54E}"/>
              </a:ext>
            </a:extLst>
          </p:cNvPr>
          <p:cNvSpPr/>
          <p:nvPr/>
        </p:nvSpPr>
        <p:spPr>
          <a:xfrm>
            <a:off x="7924800" y="2540000"/>
            <a:ext cx="3657600" cy="635000"/>
          </a:xfrm>
          <a:prstGeom prst="rect">
            <a:avLst/>
          </a:prstGeom>
          <a:solidFill>
            <a:srgbClr val="F6F7F9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2AEDCD-9183-0E10-5335-9FDD6CE33E73}"/>
              </a:ext>
            </a:extLst>
          </p:cNvPr>
          <p:cNvSpPr txBox="1"/>
          <p:nvPr/>
        </p:nvSpPr>
        <p:spPr>
          <a:xfrm>
            <a:off x="8026400" y="2628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使用案例锁定的初始条件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97FF27-B57C-DD38-9750-99AC04F08514}"/>
              </a:ext>
            </a:extLst>
          </p:cNvPr>
          <p:cNvSpPr/>
          <p:nvPr/>
        </p:nvSpPr>
        <p:spPr>
          <a:xfrm>
            <a:off x="609600" y="3175000"/>
            <a:ext cx="3657600" cy="635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E16DD7A-FD42-3214-C5A4-A00081C0C918}"/>
              </a:ext>
            </a:extLst>
          </p:cNvPr>
          <p:cNvSpPr txBox="1"/>
          <p:nvPr/>
        </p:nvSpPr>
        <p:spPr>
          <a:xfrm>
            <a:off x="711200" y="3263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牌库准备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352F822-B2DC-81A7-7598-F98CFD3915E7}"/>
              </a:ext>
            </a:extLst>
          </p:cNvPr>
          <p:cNvSpPr/>
          <p:nvPr/>
        </p:nvSpPr>
        <p:spPr>
          <a:xfrm>
            <a:off x="4267200" y="3175000"/>
            <a:ext cx="3657600" cy="635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CEA357-8160-CE72-E5C4-CFAA206ACB3A}"/>
              </a:ext>
            </a:extLst>
          </p:cNvPr>
          <p:cNvSpPr txBox="1"/>
          <p:nvPr/>
        </p:nvSpPr>
        <p:spPr>
          <a:xfrm>
            <a:off x="4368800" y="3263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从基础卡牌池中组建初始牌库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4CA185-618A-7447-0364-D7DCF9CFE493}"/>
              </a:ext>
            </a:extLst>
          </p:cNvPr>
          <p:cNvSpPr/>
          <p:nvPr/>
        </p:nvSpPr>
        <p:spPr>
          <a:xfrm>
            <a:off x="7924800" y="3175000"/>
            <a:ext cx="3657600" cy="635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66131E-07C4-6DD3-5DC2-7849885302EC}"/>
              </a:ext>
            </a:extLst>
          </p:cNvPr>
          <p:cNvSpPr txBox="1"/>
          <p:nvPr/>
        </p:nvSpPr>
        <p:spPr>
          <a:xfrm>
            <a:off x="8026400" y="3263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基础卡牌 </a:t>
            </a:r>
            <a:r>
              <a:rPr lang="en-US" altLang="zh-CN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案例专属卡牌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1CB38CF-C3C1-2A3C-A403-06362543C605}"/>
              </a:ext>
            </a:extLst>
          </p:cNvPr>
          <p:cNvSpPr/>
          <p:nvPr/>
        </p:nvSpPr>
        <p:spPr>
          <a:xfrm>
            <a:off x="609600" y="3810000"/>
            <a:ext cx="3657600" cy="635000"/>
          </a:xfrm>
          <a:prstGeom prst="rect">
            <a:avLst/>
          </a:prstGeom>
          <a:solidFill>
            <a:srgbClr val="F6F7F9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B996BD4-FC8D-3894-A68A-1A546768002B}"/>
              </a:ext>
            </a:extLst>
          </p:cNvPr>
          <p:cNvSpPr txBox="1"/>
          <p:nvPr/>
        </p:nvSpPr>
        <p:spPr>
          <a:xfrm>
            <a:off x="711200" y="3898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关卡来源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F5A04C-5910-5BF3-3650-92EFC728103B}"/>
              </a:ext>
            </a:extLst>
          </p:cNvPr>
          <p:cNvSpPr/>
          <p:nvPr/>
        </p:nvSpPr>
        <p:spPr>
          <a:xfrm>
            <a:off x="4267200" y="3810000"/>
            <a:ext cx="3657600" cy="635000"/>
          </a:xfrm>
          <a:prstGeom prst="rect">
            <a:avLst/>
          </a:prstGeom>
          <a:solidFill>
            <a:srgbClr val="F6F7F9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4BB81BB-B73C-8F8E-20AB-E62AAB9A860E}"/>
              </a:ext>
            </a:extLst>
          </p:cNvPr>
          <p:cNvSpPr txBox="1"/>
          <p:nvPr/>
        </p:nvSpPr>
        <p:spPr>
          <a:xfrm>
            <a:off x="4368800" y="3898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通用创业推进流程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BF34107-2F64-6591-C26E-46A5A3C7F150}"/>
              </a:ext>
            </a:extLst>
          </p:cNvPr>
          <p:cNvSpPr/>
          <p:nvPr/>
        </p:nvSpPr>
        <p:spPr>
          <a:xfrm>
            <a:off x="7924800" y="3810000"/>
            <a:ext cx="3657600" cy="635000"/>
          </a:xfrm>
          <a:prstGeom prst="rect">
            <a:avLst/>
          </a:prstGeom>
          <a:solidFill>
            <a:srgbClr val="F6F7F9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4F723EA-A204-EB83-E57E-6ABB17925EA2}"/>
              </a:ext>
            </a:extLst>
          </p:cNvPr>
          <p:cNvSpPr txBox="1"/>
          <p:nvPr/>
        </p:nvSpPr>
        <p:spPr>
          <a:xfrm>
            <a:off x="8026400" y="3898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真实项目关键阶段拆解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D647559-F773-31BB-4A7A-2F597B71030A}"/>
              </a:ext>
            </a:extLst>
          </p:cNvPr>
          <p:cNvSpPr/>
          <p:nvPr/>
        </p:nvSpPr>
        <p:spPr>
          <a:xfrm>
            <a:off x="609600" y="4445000"/>
            <a:ext cx="3657600" cy="635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9AEF618-521F-87B4-063F-9292CF62426A}"/>
              </a:ext>
            </a:extLst>
          </p:cNvPr>
          <p:cNvSpPr txBox="1"/>
          <p:nvPr/>
        </p:nvSpPr>
        <p:spPr>
          <a:xfrm>
            <a:off x="711200" y="4533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事件系统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B89C376-1625-B411-C21C-CEEEECBED57A}"/>
              </a:ext>
            </a:extLst>
          </p:cNvPr>
          <p:cNvSpPr/>
          <p:nvPr/>
        </p:nvSpPr>
        <p:spPr>
          <a:xfrm>
            <a:off x="4267200" y="4445000"/>
            <a:ext cx="3657600" cy="635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D670FB8-5427-037B-0F8B-F227B0F9608B}"/>
              </a:ext>
            </a:extLst>
          </p:cNvPr>
          <p:cNvSpPr txBox="1"/>
          <p:nvPr/>
        </p:nvSpPr>
        <p:spPr>
          <a:xfrm>
            <a:off x="4368800" y="4533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标准时间线事件 </a:t>
            </a:r>
            <a:r>
              <a:rPr lang="en-US" altLang="zh-CN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随机意外事件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75690CB-C581-8E6A-5DA6-0400762F43D1}"/>
              </a:ext>
            </a:extLst>
          </p:cNvPr>
          <p:cNvSpPr/>
          <p:nvPr/>
        </p:nvSpPr>
        <p:spPr>
          <a:xfrm>
            <a:off x="7924800" y="4445000"/>
            <a:ext cx="3657600" cy="635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7ED2964-22AA-6E53-6A60-6B8CEA02C74C}"/>
              </a:ext>
            </a:extLst>
          </p:cNvPr>
          <p:cNvSpPr txBox="1"/>
          <p:nvPr/>
        </p:nvSpPr>
        <p:spPr>
          <a:xfrm>
            <a:off x="8026400" y="4533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按照历史时间线发生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BE8C213-7E7D-019E-B848-4FFC595B14C0}"/>
              </a:ext>
            </a:extLst>
          </p:cNvPr>
          <p:cNvSpPr/>
          <p:nvPr/>
        </p:nvSpPr>
        <p:spPr>
          <a:xfrm>
            <a:off x="609600" y="5080000"/>
            <a:ext cx="3657600" cy="635000"/>
          </a:xfrm>
          <a:prstGeom prst="rect">
            <a:avLst/>
          </a:prstGeom>
          <a:solidFill>
            <a:srgbClr val="F6F7F9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089278F-8BB6-770D-AA97-7BD46738FD71}"/>
              </a:ext>
            </a:extLst>
          </p:cNvPr>
          <p:cNvSpPr txBox="1"/>
          <p:nvPr/>
        </p:nvSpPr>
        <p:spPr>
          <a:xfrm>
            <a:off x="711200" y="5168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体验目标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6EFAB41-0BA5-B44E-46AC-6CC25C358606}"/>
              </a:ext>
            </a:extLst>
          </p:cNvPr>
          <p:cNvSpPr/>
          <p:nvPr/>
        </p:nvSpPr>
        <p:spPr>
          <a:xfrm>
            <a:off x="4267200" y="5080000"/>
            <a:ext cx="3657600" cy="635000"/>
          </a:xfrm>
          <a:prstGeom prst="rect">
            <a:avLst/>
          </a:prstGeom>
          <a:solidFill>
            <a:srgbClr val="F6F7F9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EDD9BE9-BA0D-6C55-E736-97346FA2FF72}"/>
              </a:ext>
            </a:extLst>
          </p:cNvPr>
          <p:cNvSpPr txBox="1"/>
          <p:nvPr/>
        </p:nvSpPr>
        <p:spPr>
          <a:xfrm>
            <a:off x="4368800" y="5168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理解早期创业流程和常见取舍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9A5F03A-ED90-7B32-61AC-2994ED24CF8A}"/>
              </a:ext>
            </a:extLst>
          </p:cNvPr>
          <p:cNvSpPr/>
          <p:nvPr/>
        </p:nvSpPr>
        <p:spPr>
          <a:xfrm>
            <a:off x="7924800" y="5080000"/>
            <a:ext cx="3657600" cy="635000"/>
          </a:xfrm>
          <a:prstGeom prst="rect">
            <a:avLst/>
          </a:prstGeom>
          <a:solidFill>
            <a:srgbClr val="F6F7F9"/>
          </a:solidFill>
          <a:ln w="1016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65BC1E6-0CA3-348E-6765-FD149FDAD565}"/>
              </a:ext>
            </a:extLst>
          </p:cNvPr>
          <p:cNvSpPr txBox="1"/>
          <p:nvPr/>
        </p:nvSpPr>
        <p:spPr>
          <a:xfrm>
            <a:off x="8026400" y="5168900"/>
            <a:ext cx="3454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体验企业真实决策与产品落地</a:t>
            </a:r>
          </a:p>
        </p:txBody>
      </p:sp>
    </p:spTree>
    <p:extLst>
      <p:ext uri="{BB962C8B-B14F-4D97-AF65-F5344CB8AC3E}">
        <p14:creationId xmlns:p14="http://schemas.microsoft.com/office/powerpoint/2010/main" val="396566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374863-61C8-799C-4916-3E2E22B94024}"/>
              </a:ext>
            </a:extLst>
          </p:cNvPr>
          <p:cNvSpPr txBox="1"/>
          <p:nvPr/>
        </p:nvSpPr>
        <p:spPr>
          <a:xfrm>
            <a:off x="431800" y="3048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创业故事卡牌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3B0EDB-6562-282A-A760-FCD66F8D961C}"/>
              </a:ext>
            </a:extLst>
          </p:cNvPr>
          <p:cNvSpPr txBox="1"/>
          <p:nvPr/>
        </p:nvSpPr>
        <p:spPr>
          <a:xfrm>
            <a:off x="431800" y="685800"/>
            <a:ext cx="9652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完整流程图 </a:t>
            </a:r>
            <a:r>
              <a:rPr lang="en-US" altLang="zh-CN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：关卡内对战回合循环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B924735-ACE1-25A7-308D-D8BDCF51FEFB}"/>
              </a:ext>
            </a:extLst>
          </p:cNvPr>
          <p:cNvCxnSpPr/>
          <p:nvPr/>
        </p:nvCxnSpPr>
        <p:spPr>
          <a:xfrm>
            <a:off x="431800" y="1422400"/>
            <a:ext cx="11328400" cy="0"/>
          </a:xfrm>
          <a:prstGeom prst="line">
            <a:avLst/>
          </a:prstGeom>
          <a:ln w="17780">
            <a:solidFill>
              <a:srgbClr val="C4C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7176F65-F91A-19FA-E342-541654D89F02}"/>
              </a:ext>
            </a:extLst>
          </p:cNvPr>
          <p:cNvSpPr txBox="1"/>
          <p:nvPr/>
        </p:nvSpPr>
        <p:spPr>
          <a:xfrm>
            <a:off x="11430000" y="6223000"/>
            <a:ext cx="50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100">
              <a:solidFill>
                <a:srgbClr val="5860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D02A7A6-20B3-0A32-BEF7-E1258B2B8A90}"/>
              </a:ext>
            </a:extLst>
          </p:cNvPr>
          <p:cNvSpPr/>
          <p:nvPr/>
        </p:nvSpPr>
        <p:spPr>
          <a:xfrm>
            <a:off x="584200" y="1955800"/>
            <a:ext cx="2032000" cy="965200"/>
          </a:xfrm>
          <a:prstGeom prst="roundRect">
            <a:avLst/>
          </a:prstGeom>
          <a:solidFill>
            <a:srgbClr val="ECF4FF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D01E5C-D3DC-CFE1-6233-4B0A3A77C5F4}"/>
              </a:ext>
            </a:extLst>
          </p:cNvPr>
          <p:cNvSpPr/>
          <p:nvPr/>
        </p:nvSpPr>
        <p:spPr>
          <a:xfrm>
            <a:off x="736600" y="2108200"/>
            <a:ext cx="63500" cy="330200"/>
          </a:xfrm>
          <a:prstGeom prst="rect">
            <a:avLst/>
          </a:prstGeom>
          <a:solidFill>
            <a:srgbClr val="2A6F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B66EC8-538F-4B65-28D8-4BCBBC55157D}"/>
              </a:ext>
            </a:extLst>
          </p:cNvPr>
          <p:cNvSpPr txBox="1"/>
          <p:nvPr/>
        </p:nvSpPr>
        <p:spPr>
          <a:xfrm>
            <a:off x="914400" y="2082800"/>
            <a:ext cx="1549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进入阶段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F70A9E-E39A-6CE6-FC36-3D3C962DCD3D}"/>
              </a:ext>
            </a:extLst>
          </p:cNvPr>
          <p:cNvSpPr txBox="1"/>
          <p:nvPr/>
        </p:nvSpPr>
        <p:spPr>
          <a:xfrm>
            <a:off x="914400" y="2463800"/>
            <a:ext cx="15494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读取阶段参数：敌人血条、攻击、回合限制
读取玩家：时间、资金、出战牌库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7C469F2-90C2-7116-F5F2-9697C79FBCB6}"/>
              </a:ext>
            </a:extLst>
          </p:cNvPr>
          <p:cNvSpPr/>
          <p:nvPr/>
        </p:nvSpPr>
        <p:spPr>
          <a:xfrm>
            <a:off x="3124200" y="1955800"/>
            <a:ext cx="1803400" cy="965200"/>
          </a:xfrm>
          <a:prstGeom prst="roundRect">
            <a:avLst/>
          </a:prstGeom>
          <a:solidFill>
            <a:srgbClr val="ECF4FF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3FD899-32AA-723C-BED0-1AD9EF8AC536}"/>
              </a:ext>
            </a:extLst>
          </p:cNvPr>
          <p:cNvSpPr/>
          <p:nvPr/>
        </p:nvSpPr>
        <p:spPr>
          <a:xfrm>
            <a:off x="3276600" y="2108200"/>
            <a:ext cx="63500" cy="330200"/>
          </a:xfrm>
          <a:prstGeom prst="rect">
            <a:avLst/>
          </a:prstGeom>
          <a:solidFill>
            <a:srgbClr val="2A6F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713B5D-AE18-FB79-E9B1-195CB6EDA8A4}"/>
              </a:ext>
            </a:extLst>
          </p:cNvPr>
          <p:cNvSpPr txBox="1"/>
          <p:nvPr/>
        </p:nvSpPr>
        <p:spPr>
          <a:xfrm>
            <a:off x="3454400" y="2082800"/>
            <a:ext cx="1320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初始化战斗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BB436A-6288-14E1-3007-01913DFF2985}"/>
              </a:ext>
            </a:extLst>
          </p:cNvPr>
          <p:cNvSpPr txBox="1"/>
          <p:nvPr/>
        </p:nvSpPr>
        <p:spPr>
          <a:xfrm>
            <a:off x="3454400" y="2463800"/>
            <a:ext cx="1320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洗牌、抽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
行动力上限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，回合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1</a:t>
            </a:r>
            <a:endParaRPr lang="zh-CN" altLang="en-US" sz="900">
              <a:solidFill>
                <a:srgbClr val="5860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C3E3B9A-253B-C860-4AE2-0E00952713FB}"/>
              </a:ext>
            </a:extLst>
          </p:cNvPr>
          <p:cNvSpPr/>
          <p:nvPr/>
        </p:nvSpPr>
        <p:spPr>
          <a:xfrm>
            <a:off x="5435600" y="1955800"/>
            <a:ext cx="1651000" cy="965200"/>
          </a:xfrm>
          <a:prstGeom prst="roundRect">
            <a:avLst/>
          </a:prstGeom>
          <a:solidFill>
            <a:srgbClr val="EEF8F3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D55AFE-2408-B46F-318D-8C6269B847F2}"/>
              </a:ext>
            </a:extLst>
          </p:cNvPr>
          <p:cNvSpPr/>
          <p:nvPr/>
        </p:nvSpPr>
        <p:spPr>
          <a:xfrm>
            <a:off x="5588000" y="2108200"/>
            <a:ext cx="63500" cy="330200"/>
          </a:xfrm>
          <a:prstGeom prst="rect">
            <a:avLst/>
          </a:prstGeom>
          <a:solidFill>
            <a:srgbClr val="3291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A2A9C02-71B4-CAFA-B970-4E8AB8BB9810}"/>
              </a:ext>
            </a:extLst>
          </p:cNvPr>
          <p:cNvSpPr txBox="1"/>
          <p:nvPr/>
        </p:nvSpPr>
        <p:spPr>
          <a:xfrm>
            <a:off x="5765800" y="2082800"/>
            <a:ext cx="1168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玩家回合开始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359574F-EEA4-C272-43C1-01125A3E7CCC}"/>
              </a:ext>
            </a:extLst>
          </p:cNvPr>
          <p:cNvSpPr txBox="1"/>
          <p:nvPr/>
        </p:nvSpPr>
        <p:spPr>
          <a:xfrm>
            <a:off x="5765800" y="2463800"/>
            <a:ext cx="11684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行动力回满
抽牌到手牌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C99C2CF-DF2C-6F0D-2B12-1FDE28ACB0E6}"/>
              </a:ext>
            </a:extLst>
          </p:cNvPr>
          <p:cNvSpPr/>
          <p:nvPr/>
        </p:nvSpPr>
        <p:spPr>
          <a:xfrm>
            <a:off x="7594600" y="1828800"/>
            <a:ext cx="1930400" cy="1092200"/>
          </a:xfrm>
          <a:prstGeom prst="roundRect">
            <a:avLst/>
          </a:prstGeom>
          <a:solidFill>
            <a:srgbClr val="EEF8F3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9A9E839-4AF8-D588-CE91-76234B76FCEB}"/>
              </a:ext>
            </a:extLst>
          </p:cNvPr>
          <p:cNvSpPr/>
          <p:nvPr/>
        </p:nvSpPr>
        <p:spPr>
          <a:xfrm>
            <a:off x="7747000" y="1981200"/>
            <a:ext cx="63500" cy="330200"/>
          </a:xfrm>
          <a:prstGeom prst="rect">
            <a:avLst/>
          </a:prstGeom>
          <a:solidFill>
            <a:srgbClr val="3291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67739A-CAED-6175-E501-15F9BD163C21}"/>
              </a:ext>
            </a:extLst>
          </p:cNvPr>
          <p:cNvSpPr txBox="1"/>
          <p:nvPr/>
        </p:nvSpPr>
        <p:spPr>
          <a:xfrm>
            <a:off x="7924800" y="1955800"/>
            <a:ext cx="1447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选择并打出卡牌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64C310-E117-21D7-AB0D-CA70F1D424F2}"/>
              </a:ext>
            </a:extLst>
          </p:cNvPr>
          <p:cNvSpPr txBox="1"/>
          <p:nvPr/>
        </p:nvSpPr>
        <p:spPr>
          <a:xfrm>
            <a:off x="7924800" y="2336800"/>
            <a:ext cx="14478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支付行动力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资金
结算推进、缓冲、资金、抽牌等效果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14852F7-8729-F53F-015D-8BB6F78D6256}"/>
              </a:ext>
            </a:extLst>
          </p:cNvPr>
          <p:cNvSpPr/>
          <p:nvPr/>
        </p:nvSpPr>
        <p:spPr>
          <a:xfrm>
            <a:off x="10033000" y="1955800"/>
            <a:ext cx="1600200" cy="965200"/>
          </a:xfrm>
          <a:prstGeom prst="roundRect">
            <a:avLst/>
          </a:prstGeom>
          <a:solidFill>
            <a:srgbClr val="EEF8F3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80A151-3B5F-4CEC-5458-847B86377A39}"/>
              </a:ext>
            </a:extLst>
          </p:cNvPr>
          <p:cNvSpPr/>
          <p:nvPr/>
        </p:nvSpPr>
        <p:spPr>
          <a:xfrm>
            <a:off x="10185400" y="2108200"/>
            <a:ext cx="63500" cy="330200"/>
          </a:xfrm>
          <a:prstGeom prst="rect">
            <a:avLst/>
          </a:prstGeom>
          <a:solidFill>
            <a:srgbClr val="3291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B164CC-AB87-8362-3D4A-0E225F5EB8F0}"/>
              </a:ext>
            </a:extLst>
          </p:cNvPr>
          <p:cNvSpPr txBox="1"/>
          <p:nvPr/>
        </p:nvSpPr>
        <p:spPr>
          <a:xfrm>
            <a:off x="10363200" y="2082800"/>
            <a:ext cx="1117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胜利判断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5B2CEBB-0DAC-F230-0A0B-A0F2BCA7052A}"/>
              </a:ext>
            </a:extLst>
          </p:cNvPr>
          <p:cNvSpPr txBox="1"/>
          <p:nvPr/>
        </p:nvSpPr>
        <p:spPr>
          <a:xfrm>
            <a:off x="10363200" y="2463800"/>
            <a:ext cx="1117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敌人血条归零？
是：阶段胜利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BFC8037-4501-1A4A-5E61-D36BF52ABC8B}"/>
              </a:ext>
            </a:extLst>
          </p:cNvPr>
          <p:cNvSpPr/>
          <p:nvPr/>
        </p:nvSpPr>
        <p:spPr>
          <a:xfrm>
            <a:off x="7594600" y="3581400"/>
            <a:ext cx="1930400" cy="889000"/>
          </a:xfrm>
          <a:prstGeom prst="roundRect">
            <a:avLst/>
          </a:prstGeom>
          <a:solidFill>
            <a:srgbClr val="F4F0FC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BFEE78F-4412-6DF4-96AB-9ED38313DA45}"/>
              </a:ext>
            </a:extLst>
          </p:cNvPr>
          <p:cNvSpPr/>
          <p:nvPr/>
        </p:nvSpPr>
        <p:spPr>
          <a:xfrm>
            <a:off x="7747000" y="3733800"/>
            <a:ext cx="63500" cy="330200"/>
          </a:xfrm>
          <a:prstGeom prst="rect">
            <a:avLst/>
          </a:prstGeom>
          <a:solidFill>
            <a:srgbClr val="7856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FB22A50-CF89-B90F-354B-42B524F2AACB}"/>
              </a:ext>
            </a:extLst>
          </p:cNvPr>
          <p:cNvSpPr txBox="1"/>
          <p:nvPr/>
        </p:nvSpPr>
        <p:spPr>
          <a:xfrm>
            <a:off x="7924800" y="3708400"/>
            <a:ext cx="1447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结束本轮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0628C99-3054-3A1C-E400-364BA548C1E0}"/>
              </a:ext>
            </a:extLst>
          </p:cNvPr>
          <p:cNvSpPr txBox="1"/>
          <p:nvPr/>
        </p:nvSpPr>
        <p:spPr>
          <a:xfrm>
            <a:off x="7924800" y="4089400"/>
            <a:ext cx="1447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没有可打卡或主动结束
弃掉剩余手牌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91472AC-E0C3-F761-C0AD-69A5722EEC6D}"/>
              </a:ext>
            </a:extLst>
          </p:cNvPr>
          <p:cNvSpPr/>
          <p:nvPr/>
        </p:nvSpPr>
        <p:spPr>
          <a:xfrm>
            <a:off x="5435600" y="3581400"/>
            <a:ext cx="1651000" cy="1041400"/>
          </a:xfrm>
          <a:prstGeom prst="roundRect">
            <a:avLst/>
          </a:prstGeom>
          <a:solidFill>
            <a:srgbClr val="FFEFE6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A60C764-8487-06CB-334E-BBAF4EE7B1F2}"/>
              </a:ext>
            </a:extLst>
          </p:cNvPr>
          <p:cNvSpPr/>
          <p:nvPr/>
        </p:nvSpPr>
        <p:spPr>
          <a:xfrm>
            <a:off x="5588000" y="3733800"/>
            <a:ext cx="63500" cy="330200"/>
          </a:xfrm>
          <a:prstGeom prst="rect">
            <a:avLst/>
          </a:prstGeom>
          <a:solidFill>
            <a:srgbClr val="F47A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DA1AE8A-E351-69C7-0F21-AC3ACB461166}"/>
              </a:ext>
            </a:extLst>
          </p:cNvPr>
          <p:cNvSpPr txBox="1"/>
          <p:nvPr/>
        </p:nvSpPr>
        <p:spPr>
          <a:xfrm>
            <a:off x="5765800" y="3708400"/>
            <a:ext cx="1168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敌人意图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6BDA59B-9C03-630B-FC86-62A84C60D2DD}"/>
              </a:ext>
            </a:extLst>
          </p:cNvPr>
          <p:cNvSpPr txBox="1"/>
          <p:nvPr/>
        </p:nvSpPr>
        <p:spPr>
          <a:xfrm>
            <a:off x="5765800" y="4089400"/>
            <a:ext cx="11684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攻击扣时间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增加阻力
增加压力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最终催办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24FE239-0C19-44AF-631B-2C755384E222}"/>
              </a:ext>
            </a:extLst>
          </p:cNvPr>
          <p:cNvSpPr/>
          <p:nvPr/>
        </p:nvSpPr>
        <p:spPr>
          <a:xfrm>
            <a:off x="3124200" y="3581400"/>
            <a:ext cx="1803400" cy="1041400"/>
          </a:xfrm>
          <a:prstGeom prst="roundRect">
            <a:avLst/>
          </a:prstGeom>
          <a:solidFill>
            <a:srgbClr val="FFEFE6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64770FB-B38C-49B2-3C71-A9747E643154}"/>
              </a:ext>
            </a:extLst>
          </p:cNvPr>
          <p:cNvSpPr/>
          <p:nvPr/>
        </p:nvSpPr>
        <p:spPr>
          <a:xfrm>
            <a:off x="3276600" y="3733800"/>
            <a:ext cx="63500" cy="330200"/>
          </a:xfrm>
          <a:prstGeom prst="rect">
            <a:avLst/>
          </a:prstGeom>
          <a:solidFill>
            <a:srgbClr val="F47A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36F0B01-1936-FD1C-D6FB-CEF1E38ADDD8}"/>
              </a:ext>
            </a:extLst>
          </p:cNvPr>
          <p:cNvSpPr txBox="1"/>
          <p:nvPr/>
        </p:nvSpPr>
        <p:spPr>
          <a:xfrm>
            <a:off x="3454400" y="3708400"/>
            <a:ext cx="1320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敌人结算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9BC479D-AAD3-A2E5-4860-0BF2155D45FA}"/>
              </a:ext>
            </a:extLst>
          </p:cNvPr>
          <p:cNvSpPr txBox="1"/>
          <p:nvPr/>
        </p:nvSpPr>
        <p:spPr>
          <a:xfrm>
            <a:off x="3454400" y="4089400"/>
            <a:ext cx="1320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时间缓冲先抵消伤害
阻力和压力进入后续回合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B381B7E-A354-05D3-C531-8D3C1A9E6F0B}"/>
              </a:ext>
            </a:extLst>
          </p:cNvPr>
          <p:cNvSpPr/>
          <p:nvPr/>
        </p:nvSpPr>
        <p:spPr>
          <a:xfrm>
            <a:off x="584200" y="3581400"/>
            <a:ext cx="2032000" cy="1041400"/>
          </a:xfrm>
          <a:prstGeom prst="roundRect">
            <a:avLst/>
          </a:prstGeom>
          <a:solidFill>
            <a:srgbClr val="FFEFE6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CC96FCD-FB0A-B9AF-459D-507A3D6E0645}"/>
              </a:ext>
            </a:extLst>
          </p:cNvPr>
          <p:cNvSpPr/>
          <p:nvPr/>
        </p:nvSpPr>
        <p:spPr>
          <a:xfrm>
            <a:off x="736600" y="3733800"/>
            <a:ext cx="63500" cy="330200"/>
          </a:xfrm>
          <a:prstGeom prst="rect">
            <a:avLst/>
          </a:prstGeom>
          <a:solidFill>
            <a:srgbClr val="F47A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1EB114F-C58E-F67D-84B9-4976DFAFB3BA}"/>
              </a:ext>
            </a:extLst>
          </p:cNvPr>
          <p:cNvSpPr txBox="1"/>
          <p:nvPr/>
        </p:nvSpPr>
        <p:spPr>
          <a:xfrm>
            <a:off x="914400" y="3708400"/>
            <a:ext cx="1549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失败判断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1061984-7610-DDFC-A16C-23226DF528A3}"/>
              </a:ext>
            </a:extLst>
          </p:cNvPr>
          <p:cNvSpPr txBox="1"/>
          <p:nvPr/>
        </p:nvSpPr>
        <p:spPr>
          <a:xfrm>
            <a:off x="914400" y="4089400"/>
            <a:ext cx="15494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时间归零？阶段失败
回合超过限制？阶段失败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DC60D5C7-E8CE-3B82-31EF-5024CE14FD44}"/>
              </a:ext>
            </a:extLst>
          </p:cNvPr>
          <p:cNvSpPr/>
          <p:nvPr/>
        </p:nvSpPr>
        <p:spPr>
          <a:xfrm>
            <a:off x="3124200" y="5410200"/>
            <a:ext cx="1803400" cy="762000"/>
          </a:xfrm>
          <a:prstGeom prst="roundRect">
            <a:avLst/>
          </a:prstGeom>
          <a:solidFill>
            <a:srgbClr val="ECF4FF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B48DE6C-C7BC-3452-9BE7-AACA39AB99D8}"/>
              </a:ext>
            </a:extLst>
          </p:cNvPr>
          <p:cNvSpPr/>
          <p:nvPr/>
        </p:nvSpPr>
        <p:spPr>
          <a:xfrm>
            <a:off x="3276600" y="5562600"/>
            <a:ext cx="63500" cy="330200"/>
          </a:xfrm>
          <a:prstGeom prst="rect">
            <a:avLst/>
          </a:prstGeom>
          <a:solidFill>
            <a:srgbClr val="2A6F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B858B39-E842-BF6B-4ABA-E54FCC0503BB}"/>
              </a:ext>
            </a:extLst>
          </p:cNvPr>
          <p:cNvSpPr txBox="1"/>
          <p:nvPr/>
        </p:nvSpPr>
        <p:spPr>
          <a:xfrm>
            <a:off x="3454400" y="5537200"/>
            <a:ext cx="1320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下一回合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4F6B5F9-F96B-DACB-2853-CBCD68CE6A4C}"/>
              </a:ext>
            </a:extLst>
          </p:cNvPr>
          <p:cNvSpPr txBox="1"/>
          <p:nvPr/>
        </p:nvSpPr>
        <p:spPr>
          <a:xfrm>
            <a:off x="3454400" y="5918200"/>
            <a:ext cx="1320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回合数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
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未失败则回到玩家回合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A73ABC54-CA4A-406C-36FB-5DF390C56660}"/>
              </a:ext>
            </a:extLst>
          </p:cNvPr>
          <p:cNvSpPr/>
          <p:nvPr/>
        </p:nvSpPr>
        <p:spPr>
          <a:xfrm>
            <a:off x="9144000" y="5130800"/>
            <a:ext cx="2489200" cy="889000"/>
          </a:xfrm>
          <a:prstGeom prst="roundRect">
            <a:avLst/>
          </a:prstGeom>
          <a:solidFill>
            <a:srgbClr val="EEF8F3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72878C4-C148-183B-5E34-C11805400DE8}"/>
              </a:ext>
            </a:extLst>
          </p:cNvPr>
          <p:cNvSpPr/>
          <p:nvPr/>
        </p:nvSpPr>
        <p:spPr>
          <a:xfrm>
            <a:off x="9296400" y="5283200"/>
            <a:ext cx="63500" cy="330200"/>
          </a:xfrm>
          <a:prstGeom prst="rect">
            <a:avLst/>
          </a:prstGeom>
          <a:solidFill>
            <a:srgbClr val="3291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D29242F-7F60-D1E8-2044-9BD25E014DFB}"/>
              </a:ext>
            </a:extLst>
          </p:cNvPr>
          <p:cNvSpPr txBox="1"/>
          <p:nvPr/>
        </p:nvSpPr>
        <p:spPr>
          <a:xfrm>
            <a:off x="9474200" y="5257800"/>
            <a:ext cx="2006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阶段胜利结算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DCDB6C4-A510-9160-8C4C-9202E7956F03}"/>
              </a:ext>
            </a:extLst>
          </p:cNvPr>
          <p:cNvSpPr txBox="1"/>
          <p:nvPr/>
        </p:nvSpPr>
        <p:spPr>
          <a:xfrm>
            <a:off x="9474200" y="5638800"/>
            <a:ext cx="2006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保留剩余时间和资金
进入关卡外奖励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商店 </a:t>
            </a:r>
            <a:r>
              <a:rPr lang="en-US" altLang="zh-CN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重组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FC5DAA11-87DF-42FE-4516-E3C57E7CEA5E}"/>
              </a:ext>
            </a:extLst>
          </p:cNvPr>
          <p:cNvCxnSpPr/>
          <p:nvPr/>
        </p:nvCxnSpPr>
        <p:spPr>
          <a:xfrm>
            <a:off x="2616200" y="2438400"/>
            <a:ext cx="508000" cy="0"/>
          </a:xfrm>
          <a:prstGeom prst="line">
            <a:avLst/>
          </a:prstGeom>
          <a:ln w="1778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5E0859A0-732F-ED21-AAC2-8B5357D7AA33}"/>
              </a:ext>
            </a:extLst>
          </p:cNvPr>
          <p:cNvCxnSpPr/>
          <p:nvPr/>
        </p:nvCxnSpPr>
        <p:spPr>
          <a:xfrm>
            <a:off x="4927600" y="2438400"/>
            <a:ext cx="508000" cy="0"/>
          </a:xfrm>
          <a:prstGeom prst="line">
            <a:avLst/>
          </a:prstGeom>
          <a:ln w="1778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C22AF98D-ACF9-A529-B368-AA6D73708B98}"/>
              </a:ext>
            </a:extLst>
          </p:cNvPr>
          <p:cNvCxnSpPr/>
          <p:nvPr/>
        </p:nvCxnSpPr>
        <p:spPr>
          <a:xfrm flipV="1">
            <a:off x="7086600" y="2374900"/>
            <a:ext cx="508000" cy="63500"/>
          </a:xfrm>
          <a:prstGeom prst="line">
            <a:avLst/>
          </a:prstGeom>
          <a:ln w="1778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7C8F05A9-33C7-1FDF-390E-A566F5841DB0}"/>
              </a:ext>
            </a:extLst>
          </p:cNvPr>
          <p:cNvCxnSpPr/>
          <p:nvPr/>
        </p:nvCxnSpPr>
        <p:spPr>
          <a:xfrm>
            <a:off x="9525000" y="2374900"/>
            <a:ext cx="508000" cy="63500"/>
          </a:xfrm>
          <a:prstGeom prst="line">
            <a:avLst/>
          </a:prstGeom>
          <a:ln w="1778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F2D8ACDC-7A93-E0BE-1F4B-02A95C696A7A}"/>
              </a:ext>
            </a:extLst>
          </p:cNvPr>
          <p:cNvCxnSpPr/>
          <p:nvPr/>
        </p:nvCxnSpPr>
        <p:spPr>
          <a:xfrm flipH="1">
            <a:off x="10388600" y="2921000"/>
            <a:ext cx="431800" cy="2209800"/>
          </a:xfrm>
          <a:prstGeom prst="line">
            <a:avLst/>
          </a:prstGeom>
          <a:ln w="20320">
            <a:solidFill>
              <a:srgbClr val="32916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4FB683A9-F204-7321-3328-C69A5215A6BF}"/>
              </a:ext>
            </a:extLst>
          </p:cNvPr>
          <p:cNvCxnSpPr/>
          <p:nvPr/>
        </p:nvCxnSpPr>
        <p:spPr>
          <a:xfrm flipH="1">
            <a:off x="9525000" y="2438400"/>
            <a:ext cx="508000" cy="1587500"/>
          </a:xfrm>
          <a:prstGeom prst="line">
            <a:avLst/>
          </a:prstGeom>
          <a:ln w="1778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A16D0445-2BC6-CD92-99BA-78ADB783B3DC}"/>
              </a:ext>
            </a:extLst>
          </p:cNvPr>
          <p:cNvCxnSpPr/>
          <p:nvPr/>
        </p:nvCxnSpPr>
        <p:spPr>
          <a:xfrm flipH="1">
            <a:off x="7086600" y="4025900"/>
            <a:ext cx="508000" cy="76200"/>
          </a:xfrm>
          <a:prstGeom prst="line">
            <a:avLst/>
          </a:prstGeom>
          <a:ln w="1778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1A1CBF0-EB05-BF9C-85B9-58C878F5A534}"/>
              </a:ext>
            </a:extLst>
          </p:cNvPr>
          <p:cNvCxnSpPr/>
          <p:nvPr/>
        </p:nvCxnSpPr>
        <p:spPr>
          <a:xfrm flipH="1">
            <a:off x="4927600" y="4102100"/>
            <a:ext cx="508000" cy="0"/>
          </a:xfrm>
          <a:prstGeom prst="line">
            <a:avLst/>
          </a:prstGeom>
          <a:ln w="1778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1BB2F07-49FC-A464-9D7A-47700151649B}"/>
              </a:ext>
            </a:extLst>
          </p:cNvPr>
          <p:cNvCxnSpPr/>
          <p:nvPr/>
        </p:nvCxnSpPr>
        <p:spPr>
          <a:xfrm flipH="1">
            <a:off x="2616200" y="4102100"/>
            <a:ext cx="508000" cy="0"/>
          </a:xfrm>
          <a:prstGeom prst="line">
            <a:avLst/>
          </a:prstGeom>
          <a:ln w="1778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915CA51-A1E1-A4BE-3858-FAB2BC3AF220}"/>
              </a:ext>
            </a:extLst>
          </p:cNvPr>
          <p:cNvCxnSpPr/>
          <p:nvPr/>
        </p:nvCxnSpPr>
        <p:spPr>
          <a:xfrm>
            <a:off x="1600200" y="4622800"/>
            <a:ext cx="1524000" cy="1168400"/>
          </a:xfrm>
          <a:prstGeom prst="line">
            <a:avLst/>
          </a:prstGeom>
          <a:ln w="1778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434546BF-1225-49D8-92B5-9197FC4E0926}"/>
              </a:ext>
            </a:extLst>
          </p:cNvPr>
          <p:cNvCxnSpPr/>
          <p:nvPr/>
        </p:nvCxnSpPr>
        <p:spPr>
          <a:xfrm flipV="1">
            <a:off x="4025900" y="2921000"/>
            <a:ext cx="2235200" cy="2489200"/>
          </a:xfrm>
          <a:prstGeom prst="line">
            <a:avLst/>
          </a:prstGeom>
          <a:ln w="17780">
            <a:solidFill>
              <a:srgbClr val="C4CAD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D18CD0BE-5A2E-19FC-48B8-36B8BC3B0948}"/>
              </a:ext>
            </a:extLst>
          </p:cNvPr>
          <p:cNvSpPr txBox="1"/>
          <p:nvPr/>
        </p:nvSpPr>
        <p:spPr>
          <a:xfrm>
            <a:off x="736600" y="6375400"/>
            <a:ext cx="1003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卡牌效果内部会同时处理：核心工作推进、阻力抵消、时间缓冲、资金变化、抽牌、推进加成、压力变化。</a:t>
            </a:r>
          </a:p>
        </p:txBody>
      </p:sp>
    </p:spTree>
    <p:extLst>
      <p:ext uri="{BB962C8B-B14F-4D97-AF65-F5344CB8AC3E}">
        <p14:creationId xmlns:p14="http://schemas.microsoft.com/office/powerpoint/2010/main" val="14433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F8D195-DA05-D391-F71A-91D977EE1B24}"/>
              </a:ext>
            </a:extLst>
          </p:cNvPr>
          <p:cNvSpPr txBox="1"/>
          <p:nvPr/>
        </p:nvSpPr>
        <p:spPr>
          <a:xfrm>
            <a:off x="431800" y="3048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创业故事卡牌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F654D2-91A7-B55C-F650-360C9769B8D9}"/>
              </a:ext>
            </a:extLst>
          </p:cNvPr>
          <p:cNvSpPr txBox="1"/>
          <p:nvPr/>
        </p:nvSpPr>
        <p:spPr>
          <a:xfrm>
            <a:off x="431800" y="685800"/>
            <a:ext cx="9652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核心数值：把创业压力转成战斗资源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2915874-3C56-3B9E-FCCC-4CC45130D61A}"/>
              </a:ext>
            </a:extLst>
          </p:cNvPr>
          <p:cNvCxnSpPr/>
          <p:nvPr/>
        </p:nvCxnSpPr>
        <p:spPr>
          <a:xfrm>
            <a:off x="431800" y="1422400"/>
            <a:ext cx="11328400" cy="0"/>
          </a:xfrm>
          <a:prstGeom prst="line">
            <a:avLst/>
          </a:prstGeom>
          <a:ln w="17780">
            <a:solidFill>
              <a:srgbClr val="C4C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61179E8-33FC-0F6F-CD9B-7672A7D787F8}"/>
              </a:ext>
            </a:extLst>
          </p:cNvPr>
          <p:cNvSpPr txBox="1"/>
          <p:nvPr/>
        </p:nvSpPr>
        <p:spPr>
          <a:xfrm>
            <a:off x="11430000" y="6223000"/>
            <a:ext cx="50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100">
              <a:solidFill>
                <a:srgbClr val="5860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5972B75-4230-4387-A418-1C507BC1FB6C}"/>
              </a:ext>
            </a:extLst>
          </p:cNvPr>
          <p:cNvSpPr/>
          <p:nvPr/>
        </p:nvSpPr>
        <p:spPr>
          <a:xfrm>
            <a:off x="609600" y="1905000"/>
            <a:ext cx="2540000" cy="1651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222B40-009E-8444-AA49-59451DEAB2E5}"/>
              </a:ext>
            </a:extLst>
          </p:cNvPr>
          <p:cNvSpPr/>
          <p:nvPr/>
        </p:nvSpPr>
        <p:spPr>
          <a:xfrm>
            <a:off x="812800" y="2133600"/>
            <a:ext cx="63500" cy="355600"/>
          </a:xfrm>
          <a:prstGeom prst="rect">
            <a:avLst/>
          </a:prstGeom>
          <a:solidFill>
            <a:srgbClr val="2A6F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0799B5-5893-870C-92F9-DE04EB14DABE}"/>
              </a:ext>
            </a:extLst>
          </p:cNvPr>
          <p:cNvSpPr txBox="1"/>
          <p:nvPr/>
        </p:nvSpPr>
        <p:spPr>
          <a:xfrm>
            <a:off x="990600" y="2108200"/>
            <a:ext cx="1981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玩家时间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ADA2E5-53AF-9190-F2F4-DA3317F51DA7}"/>
              </a:ext>
            </a:extLst>
          </p:cNvPr>
          <p:cNvSpPr txBox="1"/>
          <p:nvPr/>
        </p:nvSpPr>
        <p:spPr>
          <a:xfrm>
            <a:off x="990600" y="2590800"/>
            <a:ext cx="1981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玩家血量。敌人攻击会扣减时间，归零则阶段失败。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9C2D940-A38C-4CB0-C810-ABAA9FAFF1E8}"/>
              </a:ext>
            </a:extLst>
          </p:cNvPr>
          <p:cNvSpPr/>
          <p:nvPr/>
        </p:nvSpPr>
        <p:spPr>
          <a:xfrm>
            <a:off x="3429000" y="1905000"/>
            <a:ext cx="2540000" cy="1651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C71BFB-D201-9B24-86F9-4D34F0964F89}"/>
              </a:ext>
            </a:extLst>
          </p:cNvPr>
          <p:cNvSpPr/>
          <p:nvPr/>
        </p:nvSpPr>
        <p:spPr>
          <a:xfrm>
            <a:off x="3632200" y="2133600"/>
            <a:ext cx="63500" cy="355600"/>
          </a:xfrm>
          <a:prstGeom prst="rect">
            <a:avLst/>
          </a:prstGeom>
          <a:solidFill>
            <a:srgbClr val="3291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D500140-00CF-1171-CD5D-2D3DBE492D61}"/>
              </a:ext>
            </a:extLst>
          </p:cNvPr>
          <p:cNvSpPr txBox="1"/>
          <p:nvPr/>
        </p:nvSpPr>
        <p:spPr>
          <a:xfrm>
            <a:off x="3810000" y="2108200"/>
            <a:ext cx="1981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DBF488-C32E-1799-52DE-7DE493ABEC0B}"/>
              </a:ext>
            </a:extLst>
          </p:cNvPr>
          <p:cNvSpPr txBox="1"/>
          <p:nvPr/>
        </p:nvSpPr>
        <p:spPr>
          <a:xfrm>
            <a:off x="3810000" y="2590800"/>
            <a:ext cx="1981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用于打出部分卡牌，也用于关卡外商店买牌。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45C0B96-F9E4-B2D9-59C3-8FDAF920B79D}"/>
              </a:ext>
            </a:extLst>
          </p:cNvPr>
          <p:cNvSpPr/>
          <p:nvPr/>
        </p:nvSpPr>
        <p:spPr>
          <a:xfrm>
            <a:off x="6248400" y="1905000"/>
            <a:ext cx="2540000" cy="1651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F773AF-E973-BA0B-2F6C-C9213A21ADF7}"/>
              </a:ext>
            </a:extLst>
          </p:cNvPr>
          <p:cNvSpPr/>
          <p:nvPr/>
        </p:nvSpPr>
        <p:spPr>
          <a:xfrm>
            <a:off x="6451600" y="2133600"/>
            <a:ext cx="63500" cy="355600"/>
          </a:xfrm>
          <a:prstGeom prst="rect">
            <a:avLst/>
          </a:prstGeom>
          <a:solidFill>
            <a:srgbClr val="F47A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25E492-DC70-9A80-1B9E-0AE3407A3218}"/>
              </a:ext>
            </a:extLst>
          </p:cNvPr>
          <p:cNvSpPr txBox="1"/>
          <p:nvPr/>
        </p:nvSpPr>
        <p:spPr>
          <a:xfrm>
            <a:off x="6629400" y="2108200"/>
            <a:ext cx="1981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敌人血条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AC8ACD-730F-7FA1-1688-93DBBA8ABF3B}"/>
              </a:ext>
            </a:extLst>
          </p:cNvPr>
          <p:cNvSpPr txBox="1"/>
          <p:nvPr/>
        </p:nvSpPr>
        <p:spPr>
          <a:xfrm>
            <a:off x="6629400" y="2590800"/>
            <a:ext cx="1981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阶段核心工作剩余量，清空即阶段胜利。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50D93F7-CEC1-2173-272A-9A8F6C2B781F}"/>
              </a:ext>
            </a:extLst>
          </p:cNvPr>
          <p:cNvSpPr/>
          <p:nvPr/>
        </p:nvSpPr>
        <p:spPr>
          <a:xfrm>
            <a:off x="9067800" y="1905000"/>
            <a:ext cx="2540000" cy="1651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1FE5FB-3B7B-6585-A8E2-B4DA119F2F60}"/>
              </a:ext>
            </a:extLst>
          </p:cNvPr>
          <p:cNvSpPr/>
          <p:nvPr/>
        </p:nvSpPr>
        <p:spPr>
          <a:xfrm>
            <a:off x="9271000" y="2133600"/>
            <a:ext cx="63500" cy="355600"/>
          </a:xfrm>
          <a:prstGeom prst="rect">
            <a:avLst/>
          </a:prstGeom>
          <a:solidFill>
            <a:srgbClr val="7856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833B382-F501-B575-ABC9-25DE6AEB8AE3}"/>
              </a:ext>
            </a:extLst>
          </p:cNvPr>
          <p:cNvSpPr txBox="1"/>
          <p:nvPr/>
        </p:nvSpPr>
        <p:spPr>
          <a:xfrm>
            <a:off x="9448800" y="2108200"/>
            <a:ext cx="1981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回合限制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E2D93D-B9CE-BBF8-867F-01DD429C0CEA}"/>
              </a:ext>
            </a:extLst>
          </p:cNvPr>
          <p:cNvSpPr txBox="1"/>
          <p:nvPr/>
        </p:nvSpPr>
        <p:spPr>
          <a:xfrm>
            <a:off x="9448800" y="2590800"/>
            <a:ext cx="1981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超过限制仍未完成核心工作则失败。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A9B6CB0-BCD5-C6DE-EE57-C1ECEF37CB5D}"/>
              </a:ext>
            </a:extLst>
          </p:cNvPr>
          <p:cNvSpPr/>
          <p:nvPr/>
        </p:nvSpPr>
        <p:spPr>
          <a:xfrm>
            <a:off x="609600" y="4343400"/>
            <a:ext cx="10972800" cy="1117600"/>
          </a:xfrm>
          <a:prstGeom prst="rect">
            <a:avLst/>
          </a:prstGeom>
          <a:solidFill>
            <a:srgbClr val="F7F8FA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3D8152-3933-E803-4F90-B1C3395D3282}"/>
              </a:ext>
            </a:extLst>
          </p:cNvPr>
          <p:cNvSpPr txBox="1"/>
          <p:nvPr/>
        </p:nvSpPr>
        <p:spPr>
          <a:xfrm>
            <a:off x="914400" y="4572000"/>
            <a:ext cx="152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2A6FC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动态状态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42AC0D5-3E43-CE46-D01F-30CEC2C4607D}"/>
              </a:ext>
            </a:extLst>
          </p:cNvPr>
          <p:cNvSpPr txBox="1"/>
          <p:nvPr/>
        </p:nvSpPr>
        <p:spPr>
          <a:xfrm>
            <a:off x="2540000" y="4597400"/>
            <a:ext cx="838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时间缓冲抵消伤害；推进加成提高后续输出；阻力抵消推进；压力提高敌人后续攻击。</a:t>
            </a:r>
          </a:p>
        </p:txBody>
      </p:sp>
    </p:spTree>
    <p:extLst>
      <p:ext uri="{BB962C8B-B14F-4D97-AF65-F5344CB8AC3E}">
        <p14:creationId xmlns:p14="http://schemas.microsoft.com/office/powerpoint/2010/main" val="188878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A26401-9839-AA2A-85F1-DA73CE923D10}"/>
              </a:ext>
            </a:extLst>
          </p:cNvPr>
          <p:cNvSpPr txBox="1"/>
          <p:nvPr/>
        </p:nvSpPr>
        <p:spPr>
          <a:xfrm>
            <a:off x="431800" y="3048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创业故事卡牌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7607ED-FC2C-5875-CE35-E4D09BC5173B}"/>
              </a:ext>
            </a:extLst>
          </p:cNvPr>
          <p:cNvSpPr txBox="1"/>
          <p:nvPr/>
        </p:nvSpPr>
        <p:spPr>
          <a:xfrm>
            <a:off x="431800" y="685800"/>
            <a:ext cx="9652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内容编辑器：把外部专业故事转换成可玩的战役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126D1B-A95D-CBDA-8129-FA4ABEE0C415}"/>
              </a:ext>
            </a:extLst>
          </p:cNvPr>
          <p:cNvCxnSpPr/>
          <p:nvPr/>
        </p:nvCxnSpPr>
        <p:spPr>
          <a:xfrm>
            <a:off x="431800" y="1422400"/>
            <a:ext cx="11328400" cy="0"/>
          </a:xfrm>
          <a:prstGeom prst="line">
            <a:avLst/>
          </a:prstGeom>
          <a:ln w="17780">
            <a:solidFill>
              <a:srgbClr val="C4C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2F18542-C354-CC7A-35B6-1D13AA07610A}"/>
              </a:ext>
            </a:extLst>
          </p:cNvPr>
          <p:cNvSpPr txBox="1"/>
          <p:nvPr/>
        </p:nvSpPr>
        <p:spPr>
          <a:xfrm>
            <a:off x="11430000" y="6223000"/>
            <a:ext cx="50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100">
              <a:solidFill>
                <a:srgbClr val="5860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B2DAEB0-EF56-71C2-4F98-6256BD3568B1}"/>
              </a:ext>
            </a:extLst>
          </p:cNvPr>
          <p:cNvSpPr/>
          <p:nvPr/>
        </p:nvSpPr>
        <p:spPr>
          <a:xfrm>
            <a:off x="609600" y="1905000"/>
            <a:ext cx="3302000" cy="2413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04AF89-4681-2BDC-7443-8CAE9E775FE1}"/>
              </a:ext>
            </a:extLst>
          </p:cNvPr>
          <p:cNvSpPr/>
          <p:nvPr/>
        </p:nvSpPr>
        <p:spPr>
          <a:xfrm>
            <a:off x="812800" y="2133600"/>
            <a:ext cx="63500" cy="355600"/>
          </a:xfrm>
          <a:prstGeom prst="rect">
            <a:avLst/>
          </a:prstGeom>
          <a:solidFill>
            <a:srgbClr val="2A6F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2BC1A9-2787-902F-1B3B-A135EF1886F5}"/>
              </a:ext>
            </a:extLst>
          </p:cNvPr>
          <p:cNvSpPr txBox="1"/>
          <p:nvPr/>
        </p:nvSpPr>
        <p:spPr>
          <a:xfrm>
            <a:off x="990600" y="2108200"/>
            <a:ext cx="2743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故事转关卡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CC95C6-9A1A-E906-CCBC-E47B1D24368A}"/>
              </a:ext>
            </a:extLst>
          </p:cNvPr>
          <p:cNvSpPr txBox="1"/>
          <p:nvPr/>
        </p:nvSpPr>
        <p:spPr>
          <a:xfrm>
            <a:off x="990600" y="2590800"/>
            <a:ext cx="2743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从第三方资料、真实企业案例或行业故事中提取关键阶段，转换成路线、关卡和事件。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DA54D68-16E8-D78B-ACB3-C82AD38474F1}"/>
              </a:ext>
            </a:extLst>
          </p:cNvPr>
          <p:cNvSpPr/>
          <p:nvPr/>
        </p:nvSpPr>
        <p:spPr>
          <a:xfrm>
            <a:off x="4445000" y="1905000"/>
            <a:ext cx="3302000" cy="2413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4AA050-E989-EEB9-FAFB-600DC6854A22}"/>
              </a:ext>
            </a:extLst>
          </p:cNvPr>
          <p:cNvSpPr/>
          <p:nvPr/>
        </p:nvSpPr>
        <p:spPr>
          <a:xfrm>
            <a:off x="4648200" y="2133600"/>
            <a:ext cx="63500" cy="355600"/>
          </a:xfrm>
          <a:prstGeom prst="rect">
            <a:avLst/>
          </a:prstGeom>
          <a:solidFill>
            <a:srgbClr val="F47A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53426E3-E7BA-01EF-E514-BFFABD037CCB}"/>
              </a:ext>
            </a:extLst>
          </p:cNvPr>
          <p:cNvSpPr txBox="1"/>
          <p:nvPr/>
        </p:nvSpPr>
        <p:spPr>
          <a:xfrm>
            <a:off x="4826000" y="2108200"/>
            <a:ext cx="2743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参数调难度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B6E08A-2BB3-D747-9D98-66D146E0E59C}"/>
              </a:ext>
            </a:extLst>
          </p:cNvPr>
          <p:cNvSpPr txBox="1"/>
          <p:nvPr/>
        </p:nvSpPr>
        <p:spPr>
          <a:xfrm>
            <a:off x="4826000" y="2590800"/>
            <a:ext cx="274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调整初始资源、敌人强度、事件影响、卡牌效果和商店价格，控制节奏与挑战。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10538D9-2706-F8F2-3791-9FA7639A3927}"/>
              </a:ext>
            </a:extLst>
          </p:cNvPr>
          <p:cNvSpPr/>
          <p:nvPr/>
        </p:nvSpPr>
        <p:spPr>
          <a:xfrm>
            <a:off x="8280400" y="1905000"/>
            <a:ext cx="3302000" cy="2413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4CA008-2C68-9966-BC9D-84CD42C9FF4D}"/>
              </a:ext>
            </a:extLst>
          </p:cNvPr>
          <p:cNvSpPr/>
          <p:nvPr/>
        </p:nvSpPr>
        <p:spPr>
          <a:xfrm>
            <a:off x="8483600" y="2133600"/>
            <a:ext cx="63500" cy="355600"/>
          </a:xfrm>
          <a:prstGeom prst="rect">
            <a:avLst/>
          </a:prstGeom>
          <a:solidFill>
            <a:srgbClr val="3291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A6B6880-BDD2-871E-7D3B-9970BCD2E806}"/>
              </a:ext>
            </a:extLst>
          </p:cNvPr>
          <p:cNvSpPr txBox="1"/>
          <p:nvPr/>
        </p:nvSpPr>
        <p:spPr>
          <a:xfrm>
            <a:off x="8661400" y="2108200"/>
            <a:ext cx="2743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开源扩展基础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3A52B0A-6BF0-4D66-53DF-6D73F3EAFADE}"/>
              </a:ext>
            </a:extLst>
          </p:cNvPr>
          <p:cNvSpPr txBox="1"/>
          <p:nvPr/>
        </p:nvSpPr>
        <p:spPr>
          <a:xfrm>
            <a:off x="8661400" y="2590800"/>
            <a:ext cx="274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外部创作者可补充创业赛道、真实案例、历史事件和卡牌内容，形成可共创故事库。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3018916-E178-19FA-8707-E73496B20E6C}"/>
              </a:ext>
            </a:extLst>
          </p:cNvPr>
          <p:cNvSpPr/>
          <p:nvPr/>
        </p:nvSpPr>
        <p:spPr>
          <a:xfrm>
            <a:off x="609600" y="4953000"/>
            <a:ext cx="10972800" cy="685800"/>
          </a:xfrm>
          <a:prstGeom prst="rect">
            <a:avLst/>
          </a:prstGeom>
          <a:solidFill>
            <a:srgbClr val="FFF9F1"/>
          </a:solidFill>
          <a:ln w="12700">
            <a:solidFill>
              <a:srgbClr val="F4CA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5163600-5EE5-08B3-0ED1-DDFF2560BBB3}"/>
              </a:ext>
            </a:extLst>
          </p:cNvPr>
          <p:cNvSpPr txBox="1"/>
          <p:nvPr/>
        </p:nvSpPr>
        <p:spPr>
          <a:xfrm>
            <a:off x="914400" y="5181600"/>
            <a:ext cx="1016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配套文件：内容编辑器必要参数表</a:t>
            </a:r>
            <a:r>
              <a:rPr lang="en-US" altLang="zh-CN" sz="14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.md</a:t>
            </a:r>
            <a:r>
              <a:rPr lang="zh-CN" altLang="en-US" sz="14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｜内容编辑器实际</a:t>
            </a:r>
            <a:r>
              <a:rPr lang="en-US" altLang="zh-CN" sz="14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</a:t>
            </a:r>
            <a:r>
              <a:rPr lang="zh-CN" altLang="en-US" sz="14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表格</a:t>
            </a:r>
            <a:r>
              <a:rPr lang="en-US" altLang="zh-CN" sz="14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.xlsx</a:t>
            </a:r>
            <a:endParaRPr lang="zh-CN" altLang="en-US" sz="1400" b="1">
              <a:solidFill>
                <a:srgbClr val="181C2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2569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AAAD70C-3034-CC81-7A36-B5C3BA13DF7E}"/>
              </a:ext>
            </a:extLst>
          </p:cNvPr>
          <p:cNvSpPr txBox="1"/>
          <p:nvPr/>
        </p:nvSpPr>
        <p:spPr>
          <a:xfrm>
            <a:off x="431800" y="3048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创业故事卡牌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CCD099-1CBF-9DF2-2BCB-508C0EF27229}"/>
              </a:ext>
            </a:extLst>
          </p:cNvPr>
          <p:cNvSpPr txBox="1"/>
          <p:nvPr/>
        </p:nvSpPr>
        <p:spPr>
          <a:xfrm>
            <a:off x="431800" y="685800"/>
            <a:ext cx="9652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 </a:t>
            </a:r>
            <a:r>
              <a:rPr lang="en-US" altLang="zh-CN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 </a:t>
            </a:r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内容：模拟创业 </a:t>
            </a:r>
            <a:r>
              <a:rPr lang="en-US" altLang="zh-CN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初代 </a:t>
            </a:r>
            <a:r>
              <a:rPr lang="en-US" altLang="zh-CN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iPhone </a:t>
            </a:r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C74A282-177D-F52A-BDC5-945B70439567}"/>
              </a:ext>
            </a:extLst>
          </p:cNvPr>
          <p:cNvCxnSpPr/>
          <p:nvPr/>
        </p:nvCxnSpPr>
        <p:spPr>
          <a:xfrm>
            <a:off x="431800" y="1422400"/>
            <a:ext cx="11328400" cy="0"/>
          </a:xfrm>
          <a:prstGeom prst="line">
            <a:avLst/>
          </a:prstGeom>
          <a:ln w="17780">
            <a:solidFill>
              <a:srgbClr val="C4C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893A1E4-9930-909E-EED3-B60EE53CA691}"/>
              </a:ext>
            </a:extLst>
          </p:cNvPr>
          <p:cNvSpPr txBox="1"/>
          <p:nvPr/>
        </p:nvSpPr>
        <p:spPr>
          <a:xfrm>
            <a:off x="11430000" y="6223000"/>
            <a:ext cx="50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1100">
              <a:solidFill>
                <a:srgbClr val="5860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D3DE0B1-3F04-002D-7B23-B8035E7841E6}"/>
              </a:ext>
            </a:extLst>
          </p:cNvPr>
          <p:cNvSpPr/>
          <p:nvPr/>
        </p:nvSpPr>
        <p:spPr>
          <a:xfrm>
            <a:off x="609600" y="1905000"/>
            <a:ext cx="5080000" cy="1905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391F4D-011C-65E3-0CD6-3190EF5CD115}"/>
              </a:ext>
            </a:extLst>
          </p:cNvPr>
          <p:cNvSpPr/>
          <p:nvPr/>
        </p:nvSpPr>
        <p:spPr>
          <a:xfrm>
            <a:off x="812800" y="2133600"/>
            <a:ext cx="63500" cy="355600"/>
          </a:xfrm>
          <a:prstGeom prst="rect">
            <a:avLst/>
          </a:prstGeom>
          <a:solidFill>
            <a:srgbClr val="2A6F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70DB5E-64C1-A1D4-0829-E6F4E1E4A074}"/>
              </a:ext>
            </a:extLst>
          </p:cNvPr>
          <p:cNvSpPr txBox="1"/>
          <p:nvPr/>
        </p:nvSpPr>
        <p:spPr>
          <a:xfrm>
            <a:off x="990600" y="2108200"/>
            <a:ext cx="4521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模拟创业赛道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623E8E-8517-5317-0CC9-A57971B47A83}"/>
              </a:ext>
            </a:extLst>
          </p:cNvPr>
          <p:cNvSpPr txBox="1"/>
          <p:nvPr/>
        </p:nvSpPr>
        <p:spPr>
          <a:xfrm>
            <a:off x="990600" y="2590800"/>
            <a:ext cx="4521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银发健康、</a:t>
            </a:r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效率工具、绿色消费。玩家选择核心人群和机会人群，再从 </a:t>
            </a:r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 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张通用创业要素牌中选 </a:t>
            </a:r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2685118-0804-59A3-99BE-F04FC1555EB0}"/>
              </a:ext>
            </a:extLst>
          </p:cNvPr>
          <p:cNvSpPr/>
          <p:nvPr/>
        </p:nvSpPr>
        <p:spPr>
          <a:xfrm>
            <a:off x="6502400" y="1905000"/>
            <a:ext cx="5080000" cy="1905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1F2B41-FB41-0A7E-8825-BA9D5C69C960}"/>
              </a:ext>
            </a:extLst>
          </p:cNvPr>
          <p:cNvSpPr/>
          <p:nvPr/>
        </p:nvSpPr>
        <p:spPr>
          <a:xfrm>
            <a:off x="6705600" y="2133600"/>
            <a:ext cx="63500" cy="355600"/>
          </a:xfrm>
          <a:prstGeom prst="rect">
            <a:avLst/>
          </a:prstGeom>
          <a:solidFill>
            <a:srgbClr val="F47A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116E4A8-DF34-344F-00F5-7D783ECDCCBD}"/>
              </a:ext>
            </a:extLst>
          </p:cNvPr>
          <p:cNvSpPr txBox="1"/>
          <p:nvPr/>
        </p:nvSpPr>
        <p:spPr>
          <a:xfrm>
            <a:off x="6883400" y="2108200"/>
            <a:ext cx="4521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初代 </a:t>
            </a:r>
            <a:r>
              <a:rPr lang="en-US" altLang="zh-CN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iPhone </a:t>
            </a:r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故事线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A42B07-0D95-E4AE-3359-4B994C0AFC33}"/>
              </a:ext>
            </a:extLst>
          </p:cNvPr>
          <p:cNvSpPr txBox="1"/>
          <p:nvPr/>
        </p:nvSpPr>
        <p:spPr>
          <a:xfrm>
            <a:off x="6883400" y="2590800"/>
            <a:ext cx="4521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Project Purple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、运营商谈判、</a:t>
            </a:r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OS X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触控移植、</a:t>
            </a:r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Macworld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发布、硬件冲刺、</a:t>
            </a:r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 App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生态、</a:t>
            </a:r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2007-06-29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发售。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0672E5-BC1A-B07B-FA2E-8644A61631DB}"/>
              </a:ext>
            </a:extLst>
          </p:cNvPr>
          <p:cNvSpPr/>
          <p:nvPr/>
        </p:nvSpPr>
        <p:spPr>
          <a:xfrm>
            <a:off x="609600" y="4445000"/>
            <a:ext cx="10972800" cy="939800"/>
          </a:xfrm>
          <a:prstGeom prst="rect">
            <a:avLst/>
          </a:prstGeom>
          <a:solidFill>
            <a:srgbClr val="F7F8FA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416000-79A1-B741-9E16-2FD6C053F777}"/>
              </a:ext>
            </a:extLst>
          </p:cNvPr>
          <p:cNvSpPr txBox="1"/>
          <p:nvPr/>
        </p:nvSpPr>
        <p:spPr>
          <a:xfrm>
            <a:off x="914400" y="4724400"/>
            <a:ext cx="1016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 </a:t>
            </a:r>
            <a:r>
              <a:rPr lang="en-US" altLang="zh-CN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 </a:t>
            </a:r>
            <a:r>
              <a:rPr lang="zh-CN" altLang="en-US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表格已预填：</a:t>
            </a:r>
            <a:r>
              <a:rPr lang="en-US" altLang="zh-CN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条路线</a:t>
            </a:r>
            <a:r>
              <a:rPr lang="en-US" altLang="zh-CN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案例、</a:t>
            </a:r>
            <a:r>
              <a:rPr lang="en-US" altLang="zh-CN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 </a:t>
            </a:r>
            <a:r>
              <a:rPr lang="zh-CN" altLang="en-US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个画像、</a:t>
            </a:r>
            <a:r>
              <a:rPr lang="en-US" altLang="zh-CN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 </a:t>
            </a:r>
            <a:r>
              <a:rPr lang="zh-CN" altLang="en-US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个关卡、</a:t>
            </a:r>
            <a:r>
              <a:rPr lang="en-US" altLang="zh-CN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76 </a:t>
            </a:r>
            <a:r>
              <a:rPr lang="zh-CN" altLang="en-US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张卡牌、</a:t>
            </a:r>
            <a:r>
              <a:rPr lang="en-US" altLang="zh-CN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 </a:t>
            </a:r>
            <a:r>
              <a:rPr lang="zh-CN" altLang="en-US" sz="16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个事件。</a:t>
            </a:r>
          </a:p>
        </p:txBody>
      </p:sp>
    </p:spTree>
    <p:extLst>
      <p:ext uri="{BB962C8B-B14F-4D97-AF65-F5344CB8AC3E}">
        <p14:creationId xmlns:p14="http://schemas.microsoft.com/office/powerpoint/2010/main" val="2452936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90C533-7341-7681-A13E-D937749705E5}"/>
              </a:ext>
            </a:extLst>
          </p:cNvPr>
          <p:cNvSpPr txBox="1"/>
          <p:nvPr/>
        </p:nvSpPr>
        <p:spPr>
          <a:xfrm>
            <a:off x="431800" y="3048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创业故事卡牌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CFE861-7256-5AE2-A136-EDAE6767B218}"/>
              </a:ext>
            </a:extLst>
          </p:cNvPr>
          <p:cNvSpPr txBox="1"/>
          <p:nvPr/>
        </p:nvSpPr>
        <p:spPr>
          <a:xfrm>
            <a:off x="431800" y="685800"/>
            <a:ext cx="9652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交付结构：游戏 </a:t>
            </a:r>
            <a:r>
              <a:rPr lang="en-US" altLang="zh-CN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 </a:t>
            </a:r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与说明文档分离维护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0926EE2-65BE-DF49-7A99-E79ECEBCD84E}"/>
              </a:ext>
            </a:extLst>
          </p:cNvPr>
          <p:cNvCxnSpPr/>
          <p:nvPr/>
        </p:nvCxnSpPr>
        <p:spPr>
          <a:xfrm>
            <a:off x="431800" y="1422400"/>
            <a:ext cx="11328400" cy="0"/>
          </a:xfrm>
          <a:prstGeom prst="line">
            <a:avLst/>
          </a:prstGeom>
          <a:ln w="17780">
            <a:solidFill>
              <a:srgbClr val="C4C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F5D37BA-1AA9-5D37-064A-762433305048}"/>
              </a:ext>
            </a:extLst>
          </p:cNvPr>
          <p:cNvSpPr txBox="1"/>
          <p:nvPr/>
        </p:nvSpPr>
        <p:spPr>
          <a:xfrm>
            <a:off x="11430000" y="6223000"/>
            <a:ext cx="50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1100">
              <a:solidFill>
                <a:srgbClr val="5860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52C485D-BBF6-0036-6190-3F7BFF3EACA5}"/>
              </a:ext>
            </a:extLst>
          </p:cNvPr>
          <p:cNvSpPr/>
          <p:nvPr/>
        </p:nvSpPr>
        <p:spPr>
          <a:xfrm>
            <a:off x="609600" y="1905000"/>
            <a:ext cx="5080000" cy="2159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A918A3-92C1-CB15-7B3C-8D94F206F1D0}"/>
              </a:ext>
            </a:extLst>
          </p:cNvPr>
          <p:cNvSpPr/>
          <p:nvPr/>
        </p:nvSpPr>
        <p:spPr>
          <a:xfrm>
            <a:off x="812800" y="2133600"/>
            <a:ext cx="63500" cy="355600"/>
          </a:xfrm>
          <a:prstGeom prst="rect">
            <a:avLst/>
          </a:prstGeom>
          <a:solidFill>
            <a:srgbClr val="2A6F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971FE7-6A7B-C473-8D91-2D8822AFE527}"/>
              </a:ext>
            </a:extLst>
          </p:cNvPr>
          <p:cNvSpPr txBox="1"/>
          <p:nvPr/>
        </p:nvSpPr>
        <p:spPr>
          <a:xfrm>
            <a:off x="990600" y="2108200"/>
            <a:ext cx="4521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游戏</a:t>
            </a:r>
            <a:r>
              <a:rPr lang="en-US" altLang="zh-CN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 </a:t>
            </a:r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8C41CE-960F-BA4B-74C6-6DF4B28C871F}"/>
              </a:ext>
            </a:extLst>
          </p:cNvPr>
          <p:cNvSpPr txBox="1"/>
          <p:nvPr/>
        </p:nvSpPr>
        <p:spPr>
          <a:xfrm>
            <a:off x="990600" y="2590800"/>
            <a:ext cx="4521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index.html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styles.css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app.js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、内容编辑器实际</a:t>
            </a:r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表格</a:t>
            </a:r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.xlsx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、项目文件试玩与</a:t>
            </a:r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明细</a:t>
            </a:r>
            <a:r>
              <a:rPr lang="en-US" altLang="zh-CN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.md</a:t>
            </a:r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F13B67A-473B-9E73-EB41-A4CA7BA19738}"/>
              </a:ext>
            </a:extLst>
          </p:cNvPr>
          <p:cNvSpPr/>
          <p:nvPr/>
        </p:nvSpPr>
        <p:spPr>
          <a:xfrm>
            <a:off x="6502400" y="1905000"/>
            <a:ext cx="5080000" cy="2159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E44420-0D64-338E-BD36-10372077967F}"/>
              </a:ext>
            </a:extLst>
          </p:cNvPr>
          <p:cNvSpPr/>
          <p:nvPr/>
        </p:nvSpPr>
        <p:spPr>
          <a:xfrm>
            <a:off x="6705600" y="2133600"/>
            <a:ext cx="63500" cy="355600"/>
          </a:xfrm>
          <a:prstGeom prst="rect">
            <a:avLst/>
          </a:prstGeom>
          <a:solidFill>
            <a:srgbClr val="7856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DEE075-F113-E2C5-CC9D-187B6CA5427E}"/>
              </a:ext>
            </a:extLst>
          </p:cNvPr>
          <p:cNvSpPr txBox="1"/>
          <p:nvPr/>
        </p:nvSpPr>
        <p:spPr>
          <a:xfrm>
            <a:off x="6883400" y="2108200"/>
            <a:ext cx="4521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项目介绍与玩法说明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8CBB5D-888F-0723-AA01-1F114FFBB27E}"/>
              </a:ext>
            </a:extLst>
          </p:cNvPr>
          <p:cNvSpPr txBox="1"/>
          <p:nvPr/>
        </p:nvSpPr>
        <p:spPr>
          <a:xfrm>
            <a:off x="6883400" y="2590800"/>
            <a:ext cx="4521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主文档聚焦背景、关卡外流程、关卡内对战和内容编辑器定位；参数表独立维护。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E19159-8154-F304-D2B1-D64B434B6A9D}"/>
              </a:ext>
            </a:extLst>
          </p:cNvPr>
          <p:cNvSpPr/>
          <p:nvPr/>
        </p:nvSpPr>
        <p:spPr>
          <a:xfrm>
            <a:off x="609600" y="4699000"/>
            <a:ext cx="1097280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1654AF-B519-6A6D-83E5-5AA41863626B}"/>
              </a:ext>
            </a:extLst>
          </p:cNvPr>
          <p:cNvSpPr txBox="1"/>
          <p:nvPr/>
        </p:nvSpPr>
        <p:spPr>
          <a:xfrm>
            <a:off x="914400" y="4927600"/>
            <a:ext cx="990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运行方式：直接打开游戏</a:t>
            </a:r>
            <a:r>
              <a:rPr lang="en-US" altLang="zh-CN" sz="14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demo/index.html</a:t>
            </a:r>
            <a:r>
              <a:rPr lang="zh-CN" altLang="en-US" sz="14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；如本地策略限制脚本，再启动本地静态服务。</a:t>
            </a:r>
          </a:p>
        </p:txBody>
      </p:sp>
    </p:spTree>
    <p:extLst>
      <p:ext uri="{BB962C8B-B14F-4D97-AF65-F5344CB8AC3E}">
        <p14:creationId xmlns:p14="http://schemas.microsoft.com/office/powerpoint/2010/main" val="1022269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BF4F571-DCEB-1B59-0DF4-4698D9665F1D}"/>
              </a:ext>
            </a:extLst>
          </p:cNvPr>
          <p:cNvSpPr txBox="1"/>
          <p:nvPr/>
        </p:nvSpPr>
        <p:spPr>
          <a:xfrm>
            <a:off x="431800" y="3048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创业故事卡牌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C9F1ED-4066-56D2-8953-1CC4C9D71A8E}"/>
              </a:ext>
            </a:extLst>
          </p:cNvPr>
          <p:cNvSpPr txBox="1"/>
          <p:nvPr/>
        </p:nvSpPr>
        <p:spPr>
          <a:xfrm>
            <a:off x="431800" y="685800"/>
            <a:ext cx="9652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下一步：让真实故事持续变成可玩的创业战役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EAD0AB3-4AA8-1340-22CB-53D750C3FC6B}"/>
              </a:ext>
            </a:extLst>
          </p:cNvPr>
          <p:cNvCxnSpPr/>
          <p:nvPr/>
        </p:nvCxnSpPr>
        <p:spPr>
          <a:xfrm>
            <a:off x="431800" y="1422400"/>
            <a:ext cx="11328400" cy="0"/>
          </a:xfrm>
          <a:prstGeom prst="line">
            <a:avLst/>
          </a:prstGeom>
          <a:ln w="17780">
            <a:solidFill>
              <a:srgbClr val="C4C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073CA73-D083-742E-EFED-E8DEE9CE9B4A}"/>
              </a:ext>
            </a:extLst>
          </p:cNvPr>
          <p:cNvSpPr txBox="1"/>
          <p:nvPr/>
        </p:nvSpPr>
        <p:spPr>
          <a:xfrm>
            <a:off x="11430000" y="6223000"/>
            <a:ext cx="50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100">
              <a:solidFill>
                <a:srgbClr val="5860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B2E1F3D-21A3-3BD9-9645-A7DE07004BAB}"/>
              </a:ext>
            </a:extLst>
          </p:cNvPr>
          <p:cNvSpPr/>
          <p:nvPr/>
        </p:nvSpPr>
        <p:spPr>
          <a:xfrm>
            <a:off x="609600" y="2349500"/>
            <a:ext cx="1905000" cy="13716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723411-7FD9-03FB-9718-187D1FB21B47}"/>
              </a:ext>
            </a:extLst>
          </p:cNvPr>
          <p:cNvSpPr txBox="1"/>
          <p:nvPr/>
        </p:nvSpPr>
        <p:spPr>
          <a:xfrm>
            <a:off x="787400" y="2501900"/>
            <a:ext cx="53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2A6FC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200" b="1">
              <a:solidFill>
                <a:srgbClr val="2A6FC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A414D65-6AC7-C74F-3624-13FB639C15DB}"/>
              </a:ext>
            </a:extLst>
          </p:cNvPr>
          <p:cNvSpPr txBox="1"/>
          <p:nvPr/>
        </p:nvSpPr>
        <p:spPr>
          <a:xfrm>
            <a:off x="787400" y="2832100"/>
            <a:ext cx="1549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收集故事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4B8460-D50E-C74D-EB00-BFB2F4BBF4D8}"/>
              </a:ext>
            </a:extLst>
          </p:cNvPr>
          <p:cNvSpPr txBox="1"/>
          <p:nvPr/>
        </p:nvSpPr>
        <p:spPr>
          <a:xfrm>
            <a:off x="787400" y="3213100"/>
            <a:ext cx="1549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企业案例、专业访谈、行业资料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23A4561-A9DB-A99F-D5CB-657D1DE8D62D}"/>
              </a:ext>
            </a:extLst>
          </p:cNvPr>
          <p:cNvCxnSpPr/>
          <p:nvPr/>
        </p:nvCxnSpPr>
        <p:spPr>
          <a:xfrm>
            <a:off x="2514600" y="3035300"/>
            <a:ext cx="203200" cy="0"/>
          </a:xfrm>
          <a:prstGeom prst="line">
            <a:avLst/>
          </a:prstGeom>
          <a:ln w="15240">
            <a:solidFill>
              <a:srgbClr val="C4C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6E27F48-6689-7058-8AE5-A7D48C9F25B3}"/>
              </a:ext>
            </a:extLst>
          </p:cNvPr>
          <p:cNvSpPr/>
          <p:nvPr/>
        </p:nvSpPr>
        <p:spPr>
          <a:xfrm>
            <a:off x="2819400" y="2349500"/>
            <a:ext cx="1905000" cy="13716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1C2D20-8F2D-F800-79F5-6B4063786D39}"/>
              </a:ext>
            </a:extLst>
          </p:cNvPr>
          <p:cNvSpPr txBox="1"/>
          <p:nvPr/>
        </p:nvSpPr>
        <p:spPr>
          <a:xfrm>
            <a:off x="2997200" y="2501900"/>
            <a:ext cx="53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3291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200" b="1">
              <a:solidFill>
                <a:srgbClr val="3291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83C320-D4D2-7889-E53D-C0DBE5413ED8}"/>
              </a:ext>
            </a:extLst>
          </p:cNvPr>
          <p:cNvSpPr txBox="1"/>
          <p:nvPr/>
        </p:nvSpPr>
        <p:spPr>
          <a:xfrm>
            <a:off x="2997200" y="2832100"/>
            <a:ext cx="1549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拆解阶段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C2FE89F-3799-A18F-7094-7923FF456474}"/>
              </a:ext>
            </a:extLst>
          </p:cNvPr>
          <p:cNvSpPr txBox="1"/>
          <p:nvPr/>
        </p:nvSpPr>
        <p:spPr>
          <a:xfrm>
            <a:off x="2997200" y="3213100"/>
            <a:ext cx="1549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提取目标、冲突、资源、时间线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1468734-C95B-FBA6-CC17-FC75DF0B5344}"/>
              </a:ext>
            </a:extLst>
          </p:cNvPr>
          <p:cNvCxnSpPr/>
          <p:nvPr/>
        </p:nvCxnSpPr>
        <p:spPr>
          <a:xfrm>
            <a:off x="4724400" y="3035300"/>
            <a:ext cx="203200" cy="0"/>
          </a:xfrm>
          <a:prstGeom prst="line">
            <a:avLst/>
          </a:prstGeom>
          <a:ln w="15240">
            <a:solidFill>
              <a:srgbClr val="C4C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787B18E-A69D-FF26-AB2E-80223018F6E6}"/>
              </a:ext>
            </a:extLst>
          </p:cNvPr>
          <p:cNvSpPr/>
          <p:nvPr/>
        </p:nvSpPr>
        <p:spPr>
          <a:xfrm>
            <a:off x="5029200" y="2349500"/>
            <a:ext cx="1905000" cy="13716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7F4DFA-99A3-15B0-088C-F1652AB1CF27}"/>
              </a:ext>
            </a:extLst>
          </p:cNvPr>
          <p:cNvSpPr txBox="1"/>
          <p:nvPr/>
        </p:nvSpPr>
        <p:spPr>
          <a:xfrm>
            <a:off x="5207000" y="2501900"/>
            <a:ext cx="53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2A6FC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200" b="1">
              <a:solidFill>
                <a:srgbClr val="2A6FC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F0B13F7-21C9-BD4B-7789-61458439B7E5}"/>
              </a:ext>
            </a:extLst>
          </p:cNvPr>
          <p:cNvSpPr txBox="1"/>
          <p:nvPr/>
        </p:nvSpPr>
        <p:spPr>
          <a:xfrm>
            <a:off x="5207000" y="2832100"/>
            <a:ext cx="1549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填写参数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C6B3F2-F812-E187-7FF7-70AB007BE265}"/>
              </a:ext>
            </a:extLst>
          </p:cNvPr>
          <p:cNvSpPr txBox="1"/>
          <p:nvPr/>
        </p:nvSpPr>
        <p:spPr>
          <a:xfrm>
            <a:off x="5207000" y="3213100"/>
            <a:ext cx="1549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路线、关卡、事件、卡牌、敌人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7D3DA9C-B07E-F5AD-C03E-06756DA2BACA}"/>
              </a:ext>
            </a:extLst>
          </p:cNvPr>
          <p:cNvCxnSpPr/>
          <p:nvPr/>
        </p:nvCxnSpPr>
        <p:spPr>
          <a:xfrm>
            <a:off x="6934200" y="3035300"/>
            <a:ext cx="203200" cy="0"/>
          </a:xfrm>
          <a:prstGeom prst="line">
            <a:avLst/>
          </a:prstGeom>
          <a:ln w="15240">
            <a:solidFill>
              <a:srgbClr val="C4C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879D6BE-8C19-B14F-E609-317559BC1FC3}"/>
              </a:ext>
            </a:extLst>
          </p:cNvPr>
          <p:cNvSpPr/>
          <p:nvPr/>
        </p:nvSpPr>
        <p:spPr>
          <a:xfrm>
            <a:off x="7239000" y="2349500"/>
            <a:ext cx="1905000" cy="13716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69DEE5-A292-67DA-CF53-2DEBBEF62329}"/>
              </a:ext>
            </a:extLst>
          </p:cNvPr>
          <p:cNvSpPr txBox="1"/>
          <p:nvPr/>
        </p:nvSpPr>
        <p:spPr>
          <a:xfrm>
            <a:off x="7416800" y="2501900"/>
            <a:ext cx="53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3291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200" b="1">
              <a:solidFill>
                <a:srgbClr val="3291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FCC4CF3-1305-EB60-731B-08C20405CF2D}"/>
              </a:ext>
            </a:extLst>
          </p:cNvPr>
          <p:cNvSpPr txBox="1"/>
          <p:nvPr/>
        </p:nvSpPr>
        <p:spPr>
          <a:xfrm>
            <a:off x="7416800" y="2832100"/>
            <a:ext cx="1549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试玩调参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F240256-BC4F-5EE4-EE63-E20E3FBAC77B}"/>
              </a:ext>
            </a:extLst>
          </p:cNvPr>
          <p:cNvSpPr txBox="1"/>
          <p:nvPr/>
        </p:nvSpPr>
        <p:spPr>
          <a:xfrm>
            <a:off x="7416800" y="3213100"/>
            <a:ext cx="1549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平衡时间、资金、血量和奖励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015FCBC-CEF8-ED86-437B-E0E71886B440}"/>
              </a:ext>
            </a:extLst>
          </p:cNvPr>
          <p:cNvCxnSpPr/>
          <p:nvPr/>
        </p:nvCxnSpPr>
        <p:spPr>
          <a:xfrm>
            <a:off x="9144000" y="3035300"/>
            <a:ext cx="203200" cy="0"/>
          </a:xfrm>
          <a:prstGeom prst="line">
            <a:avLst/>
          </a:prstGeom>
          <a:ln w="15240">
            <a:solidFill>
              <a:srgbClr val="C4C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BAA99E6-74E2-3898-4C97-97B4E172B6ED}"/>
              </a:ext>
            </a:extLst>
          </p:cNvPr>
          <p:cNvSpPr/>
          <p:nvPr/>
        </p:nvSpPr>
        <p:spPr>
          <a:xfrm>
            <a:off x="9448800" y="2349500"/>
            <a:ext cx="1905000" cy="13716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C4C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A8117A3-DCA5-72B4-E3A3-88F7AD90DAF2}"/>
              </a:ext>
            </a:extLst>
          </p:cNvPr>
          <p:cNvSpPr txBox="1"/>
          <p:nvPr/>
        </p:nvSpPr>
        <p:spPr>
          <a:xfrm>
            <a:off x="9626600" y="2501900"/>
            <a:ext cx="53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2A6FC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200" b="1">
              <a:solidFill>
                <a:srgbClr val="2A6FC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9D3F412-19B9-08E4-E53A-DBA9FE8ACB2E}"/>
              </a:ext>
            </a:extLst>
          </p:cNvPr>
          <p:cNvSpPr txBox="1"/>
          <p:nvPr/>
        </p:nvSpPr>
        <p:spPr>
          <a:xfrm>
            <a:off x="9626600" y="2832100"/>
            <a:ext cx="1549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发布共享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0BFB02E-6818-2135-7284-FA1393030E9A}"/>
              </a:ext>
            </a:extLst>
          </p:cNvPr>
          <p:cNvSpPr txBox="1"/>
          <p:nvPr/>
        </p:nvSpPr>
        <p:spPr>
          <a:xfrm>
            <a:off x="9626600" y="3213100"/>
            <a:ext cx="1549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5860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形成第三方可扩展内容包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2C460C4-EEC8-D2CD-9CE0-9298A25C4DF9}"/>
              </a:ext>
            </a:extLst>
          </p:cNvPr>
          <p:cNvSpPr txBox="1"/>
          <p:nvPr/>
        </p:nvSpPr>
        <p:spPr>
          <a:xfrm>
            <a:off x="609600" y="5334000"/>
            <a:ext cx="965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181C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目标：从单个原型，扩展成可由第三方共同维护的创业故事卡牌系统。</a:t>
            </a:r>
          </a:p>
        </p:txBody>
      </p:sp>
    </p:spTree>
    <p:extLst>
      <p:ext uri="{BB962C8B-B14F-4D97-AF65-F5344CB8AC3E}">
        <p14:creationId xmlns:p14="http://schemas.microsoft.com/office/powerpoint/2010/main" val="887436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1257</Words>
  <Application>Microsoft Office PowerPoint</Application>
  <PresentationFormat>自定义</PresentationFormat>
  <Paragraphs>157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Yixuan Jiang</dc:creator>
  <cp:lastModifiedBy>Yixuan Jiang</cp:lastModifiedBy>
  <cp:revision>1</cp:revision>
  <dcterms:created xsi:type="dcterms:W3CDTF">2026-07-03T06:54:34Z</dcterms:created>
  <dcterms:modified xsi:type="dcterms:W3CDTF">2026-07-03T06:54:34Z</dcterms:modified>
</cp:coreProperties>
</file>